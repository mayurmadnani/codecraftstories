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F8CB20B-70C3-4B3C-88F2-60A80F792330}">
  <a:tblStyle styleId="{FF8CB20B-70C3-4B3C-88F2-60A80F792330}"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b33a4a4607_0_1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b33a4a4607_0_1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b33a4a4607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b33a4a4607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b33a4a4607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b33a4a4607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b33a4a4607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b33a4a4607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b33a4a4607_0_1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b33a4a4607_0_1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b33a4a4607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 name="Google Shape;86;g3b33a4a4607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b33a4a4607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b33a4a4607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g3b33a4a4607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 name="Google Shape;98;g3b33a4a4607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b33a4a4607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b33a4a4607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b33a4a4607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b33a4a4607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b33a4a4607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b33a4a4607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b33a4a4607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b33a4a4607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b33a4a4607_0_2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3b33a4a4607_0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b33a4a4607_23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5" name="Google Shape;135;g3b33a4a4607_23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36" name="Google Shape;136;g3b33a4a4607_23_0: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b33a4a4607_23_6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g3b33a4a4607_23_6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46" name="Google Shape;146;g3b33a4a4607_23_6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b33a4a4607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b33a4a4607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b33a4a4607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b33a4a4607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3b33a4a4607_0_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3b33a4a4607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b33a4a4607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b33a4a4607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b33a4a4607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3b33a4a4607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3b33a4a4607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3b33a4a4607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b33a4a4607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3b33a4a4607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0" name="Shape 50"/>
        <p:cNvGrpSpPr/>
        <p:nvPr/>
      </p:nvGrpSpPr>
      <p:grpSpPr>
        <a:xfrm>
          <a:off x="0" y="0"/>
          <a:ext cx="0" cy="0"/>
          <a:chOff x="0" y="0"/>
          <a:chExt cx="0" cy="0"/>
        </a:xfrm>
      </p:grpSpPr>
      <p:sp>
        <p:nvSpPr>
          <p:cNvPr id="51" name="Google Shape;51;p13"/>
          <p:cNvSpPr txBox="1"/>
          <p:nvPr>
            <p:ph type="title"/>
          </p:nvPr>
        </p:nvSpPr>
        <p:spPr>
          <a:xfrm>
            <a:off x="628650"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2" name="Google Shape;52;p13"/>
          <p:cNvSpPr txBox="1"/>
          <p:nvPr>
            <p:ph idx="1" type="body"/>
          </p:nvPr>
        </p:nvSpPr>
        <p:spPr>
          <a:xfrm>
            <a:off x="628650" y="1369219"/>
            <a:ext cx="78867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1200"/>
              </a:spcBef>
              <a:spcAft>
                <a:spcPts val="0"/>
              </a:spcAft>
              <a:buClr>
                <a:schemeClr val="dk1"/>
              </a:buClr>
              <a:buSzPts val="1400"/>
              <a:buChar char="○"/>
              <a:defRPr/>
            </a:lvl2pPr>
            <a:lvl3pPr indent="-317500" lvl="2" marL="1371600" algn="l">
              <a:lnSpc>
                <a:spcPct val="90000"/>
              </a:lnSpc>
              <a:spcBef>
                <a:spcPts val="1200"/>
              </a:spcBef>
              <a:spcAft>
                <a:spcPts val="0"/>
              </a:spcAft>
              <a:buClr>
                <a:schemeClr val="dk1"/>
              </a:buClr>
              <a:buSzPts val="1400"/>
              <a:buChar char="■"/>
              <a:defRPr/>
            </a:lvl3pPr>
            <a:lvl4pPr indent="-317500" lvl="3" marL="1828800" algn="l">
              <a:lnSpc>
                <a:spcPct val="90000"/>
              </a:lnSpc>
              <a:spcBef>
                <a:spcPts val="1200"/>
              </a:spcBef>
              <a:spcAft>
                <a:spcPts val="0"/>
              </a:spcAft>
              <a:buClr>
                <a:schemeClr val="dk1"/>
              </a:buClr>
              <a:buSzPts val="1400"/>
              <a:buChar char="●"/>
              <a:defRPr/>
            </a:lvl4pPr>
            <a:lvl5pPr indent="-317500" lvl="4" marL="2286000" algn="l">
              <a:lnSpc>
                <a:spcPct val="90000"/>
              </a:lnSpc>
              <a:spcBef>
                <a:spcPts val="1200"/>
              </a:spcBef>
              <a:spcAft>
                <a:spcPts val="0"/>
              </a:spcAft>
              <a:buClr>
                <a:schemeClr val="dk1"/>
              </a:buClr>
              <a:buSzPts val="1400"/>
              <a:buChar char="○"/>
              <a:defRPr/>
            </a:lvl5pPr>
            <a:lvl6pPr indent="-317500" lvl="5" marL="2743200" algn="l">
              <a:lnSpc>
                <a:spcPct val="90000"/>
              </a:lnSpc>
              <a:spcBef>
                <a:spcPts val="1200"/>
              </a:spcBef>
              <a:spcAft>
                <a:spcPts val="0"/>
              </a:spcAft>
              <a:buClr>
                <a:schemeClr val="dk1"/>
              </a:buClr>
              <a:buSzPts val="1400"/>
              <a:buChar char="■"/>
              <a:defRPr/>
            </a:lvl6pPr>
            <a:lvl7pPr indent="-317500" lvl="6" marL="3200400" algn="l">
              <a:lnSpc>
                <a:spcPct val="90000"/>
              </a:lnSpc>
              <a:spcBef>
                <a:spcPts val="1200"/>
              </a:spcBef>
              <a:spcAft>
                <a:spcPts val="0"/>
              </a:spcAft>
              <a:buClr>
                <a:schemeClr val="dk1"/>
              </a:buClr>
              <a:buSzPts val="1400"/>
              <a:buChar char="●"/>
              <a:defRPr/>
            </a:lvl7pPr>
            <a:lvl8pPr indent="-317500" lvl="7" marL="3657600" algn="l">
              <a:lnSpc>
                <a:spcPct val="90000"/>
              </a:lnSpc>
              <a:spcBef>
                <a:spcPts val="1200"/>
              </a:spcBef>
              <a:spcAft>
                <a:spcPts val="0"/>
              </a:spcAft>
              <a:buClr>
                <a:schemeClr val="dk1"/>
              </a:buClr>
              <a:buSzPts val="1400"/>
              <a:buChar char="○"/>
              <a:defRPr/>
            </a:lvl8pPr>
            <a:lvl9pPr indent="-317500" lvl="8" marL="4114800" algn="l">
              <a:lnSpc>
                <a:spcPct val="90000"/>
              </a:lnSpc>
              <a:spcBef>
                <a:spcPts val="1200"/>
              </a:spcBef>
              <a:spcAft>
                <a:spcPts val="1200"/>
              </a:spcAft>
              <a:buClr>
                <a:schemeClr val="dk1"/>
              </a:buClr>
              <a:buSzPts val="1400"/>
              <a:buChar char="■"/>
              <a:defRPr/>
            </a:lvl9pPr>
          </a:lstStyle>
          <a:p/>
        </p:txBody>
      </p:sp>
      <p:sp>
        <p:nvSpPr>
          <p:cNvPr id="53" name="Google Shape;53;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4" name="Google Shape;54;p13"/>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sz="1100"/>
            </a:lvl1pPr>
            <a:lvl2pPr lvl="1" algn="l">
              <a:spcBef>
                <a:spcPts val="0"/>
              </a:spcBef>
              <a:spcAft>
                <a:spcPts val="0"/>
              </a:spcAft>
              <a:buSzPts val="1100"/>
              <a:buNone/>
              <a:defRPr sz="1100"/>
            </a:lvl2pPr>
            <a:lvl3pPr lvl="2" algn="l">
              <a:spcBef>
                <a:spcPts val="0"/>
              </a:spcBef>
              <a:spcAft>
                <a:spcPts val="0"/>
              </a:spcAft>
              <a:buSzPts val="1100"/>
              <a:buNone/>
              <a:defRPr sz="1100"/>
            </a:lvl3pPr>
            <a:lvl4pPr lvl="3" algn="l">
              <a:spcBef>
                <a:spcPts val="0"/>
              </a:spcBef>
              <a:spcAft>
                <a:spcPts val="0"/>
              </a:spcAft>
              <a:buSzPts val="1100"/>
              <a:buNone/>
              <a:defRPr sz="1100"/>
            </a:lvl4pPr>
            <a:lvl5pPr lvl="4" algn="l">
              <a:spcBef>
                <a:spcPts val="0"/>
              </a:spcBef>
              <a:spcAft>
                <a:spcPts val="0"/>
              </a:spcAft>
              <a:buSzPts val="1100"/>
              <a:buNone/>
              <a:defRPr sz="1100"/>
            </a:lvl5pPr>
            <a:lvl6pPr lvl="5" algn="l">
              <a:spcBef>
                <a:spcPts val="0"/>
              </a:spcBef>
              <a:spcAft>
                <a:spcPts val="0"/>
              </a:spcAft>
              <a:buSzPts val="1100"/>
              <a:buNone/>
              <a:defRPr sz="1100"/>
            </a:lvl6pPr>
            <a:lvl7pPr lvl="6" algn="l">
              <a:spcBef>
                <a:spcPts val="0"/>
              </a:spcBef>
              <a:spcAft>
                <a:spcPts val="0"/>
              </a:spcAft>
              <a:buSzPts val="1100"/>
              <a:buNone/>
              <a:defRPr sz="1100"/>
            </a:lvl7pPr>
            <a:lvl8pPr lvl="7" algn="l">
              <a:spcBef>
                <a:spcPts val="0"/>
              </a:spcBef>
              <a:spcAft>
                <a:spcPts val="0"/>
              </a:spcAft>
              <a:buSzPts val="1100"/>
              <a:buNone/>
              <a:defRPr sz="1100"/>
            </a:lvl8pPr>
            <a:lvl9pPr lvl="8" algn="l">
              <a:spcBef>
                <a:spcPts val="0"/>
              </a:spcBef>
              <a:spcAft>
                <a:spcPts val="0"/>
              </a:spcAft>
              <a:buSzPts val="1100"/>
              <a:buNone/>
              <a:defRPr sz="1100"/>
            </a:lvl9pPr>
          </a:lstStyle>
          <a:p/>
        </p:txBody>
      </p:sp>
      <p:sp>
        <p:nvSpPr>
          <p:cNvPr id="55" name="Google Shape;55;p13"/>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rm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6.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3.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2.jpg"/><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9.pn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67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820"/>
              <a:t>Hello!</a:t>
            </a:r>
            <a:endParaRPr sz="3820"/>
          </a:p>
        </p:txBody>
      </p:sp>
      <p:pic>
        <p:nvPicPr>
          <p:cNvPr descr="change background color to #eeeeee" id="61" name="Google Shape;61;p14"/>
          <p:cNvPicPr preferRelativeResize="0"/>
          <p:nvPr/>
        </p:nvPicPr>
        <p:blipFill>
          <a:blip r:embed="rId3">
            <a:alphaModFix/>
          </a:blip>
          <a:stretch>
            <a:fillRect/>
          </a:stretch>
        </p:blipFill>
        <p:spPr>
          <a:xfrm>
            <a:off x="2712363" y="1052500"/>
            <a:ext cx="3719276" cy="37192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65" name="Shape 65"/>
        <p:cNvGrpSpPr/>
        <p:nvPr/>
      </p:nvGrpSpPr>
      <p:grpSpPr>
        <a:xfrm>
          <a:off x="0" y="0"/>
          <a:ext cx="0" cy="0"/>
          <a:chOff x="0" y="0"/>
          <a:chExt cx="0" cy="0"/>
        </a:xfrm>
      </p:grpSpPr>
      <p:pic>
        <p:nvPicPr>
          <p:cNvPr descr="change background color to #eeeeee" id="66" name="Google Shape;66;p15"/>
          <p:cNvPicPr preferRelativeResize="0"/>
          <p:nvPr/>
        </p:nvPicPr>
        <p:blipFill>
          <a:blip r:embed="rId3">
            <a:alphaModFix/>
          </a:blip>
          <a:stretch>
            <a:fillRect/>
          </a:stretch>
        </p:blipFill>
        <p:spPr>
          <a:xfrm>
            <a:off x="2133600" y="1176049"/>
            <a:ext cx="4359549" cy="3559175"/>
          </a:xfrm>
          <a:prstGeom prst="rect">
            <a:avLst/>
          </a:prstGeom>
          <a:noFill/>
          <a:ln>
            <a:noFill/>
          </a:ln>
        </p:spPr>
      </p:pic>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80/20 Reality</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71" name="Shape 71"/>
        <p:cNvGrpSpPr/>
        <p:nvPr/>
      </p:nvGrpSpPr>
      <p:grpSpPr>
        <a:xfrm>
          <a:off x="0" y="0"/>
          <a:ext cx="0" cy="0"/>
          <a:chOff x="0" y="0"/>
          <a:chExt cx="0" cy="0"/>
        </a:xfrm>
      </p:grpSpPr>
      <p:pic>
        <p:nvPicPr>
          <p:cNvPr descr="upsample image" id="72" name="Google Shape;72;p16"/>
          <p:cNvPicPr preferRelativeResize="0"/>
          <p:nvPr/>
        </p:nvPicPr>
        <p:blipFill>
          <a:blip r:embed="rId3">
            <a:alphaModFix/>
          </a:blip>
          <a:stretch>
            <a:fillRect/>
          </a:stretch>
        </p:blipFill>
        <p:spPr>
          <a:xfrm>
            <a:off x="471500" y="417845"/>
            <a:ext cx="8201000" cy="41806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76" name="Shape 76"/>
        <p:cNvGrpSpPr/>
        <p:nvPr/>
      </p:nvGrpSpPr>
      <p:grpSpPr>
        <a:xfrm>
          <a:off x="0" y="0"/>
          <a:ext cx="0" cy="0"/>
          <a:chOff x="0" y="0"/>
          <a:chExt cx="0" cy="0"/>
        </a:xfrm>
      </p:grpSpPr>
      <p:graphicFrame>
        <p:nvGraphicFramePr>
          <p:cNvPr id="77" name="Google Shape;77;p17"/>
          <p:cNvGraphicFramePr/>
          <p:nvPr/>
        </p:nvGraphicFramePr>
        <p:xfrm>
          <a:off x="808800" y="406875"/>
          <a:ext cx="3000000" cy="3000000"/>
        </p:xfrm>
        <a:graphic>
          <a:graphicData uri="http://schemas.openxmlformats.org/drawingml/2006/table">
            <a:tbl>
              <a:tblPr>
                <a:noFill/>
                <a:tableStyleId>{FF8CB20B-70C3-4B3C-88F2-60A80F792330}</a:tableStyleId>
              </a:tblPr>
              <a:tblGrid>
                <a:gridCol w="2413000"/>
                <a:gridCol w="2413000"/>
                <a:gridCol w="2413000"/>
              </a:tblGrid>
              <a:tr h="381000">
                <a:tc>
                  <a:txBody>
                    <a:bodyPr/>
                    <a:lstStyle/>
                    <a:p>
                      <a:pPr indent="0" lvl="0" marL="0" rtl="0" algn="l">
                        <a:lnSpc>
                          <a:spcPct val="115000"/>
                        </a:lnSpc>
                        <a:spcBef>
                          <a:spcPts val="0"/>
                        </a:spcBef>
                        <a:spcAft>
                          <a:spcPts val="2400"/>
                        </a:spcAft>
                        <a:buNone/>
                      </a:pPr>
                      <a:r>
                        <a:rPr b="1" lang="en">
                          <a:solidFill>
                            <a:schemeClr val="dk2"/>
                          </a:solidFill>
                        </a:rPr>
                        <a:t>Criteria</a:t>
                      </a:r>
                      <a:endParaRPr b="1">
                        <a:solidFill>
                          <a:schemeClr val="dk2"/>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b="1" lang="en">
                          <a:solidFill>
                            <a:schemeClr val="dk2"/>
                          </a:solidFill>
                        </a:rPr>
                        <a:t>Academic Context</a:t>
                      </a:r>
                      <a:endParaRPr b="1">
                        <a:solidFill>
                          <a:schemeClr val="dk2"/>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b="1" lang="en">
                          <a:solidFill>
                            <a:schemeClr val="dk2"/>
                          </a:solidFill>
                        </a:rPr>
                        <a:t>Industrial Context</a:t>
                      </a:r>
                      <a:endParaRPr b="1">
                        <a:solidFill>
                          <a:schemeClr val="dk2"/>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15000"/>
                        </a:lnSpc>
                        <a:spcBef>
                          <a:spcPts val="0"/>
                        </a:spcBef>
                        <a:spcAft>
                          <a:spcPts val="2400"/>
                        </a:spcAft>
                        <a:buNone/>
                      </a:pPr>
                      <a:r>
                        <a:rPr lang="en">
                          <a:solidFill>
                            <a:schemeClr val="dk2"/>
                          </a:solidFill>
                        </a:rPr>
                        <a:t>Success Metric</a:t>
                      </a:r>
                      <a:endParaRPr>
                        <a:solidFill>
                          <a:schemeClr val="dk2"/>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a:solidFill>
                            <a:schemeClr val="dk2"/>
                          </a:solidFill>
                        </a:rPr>
                        <a:t>Accuracy, F1-Score, Log-Loss.</a:t>
                      </a:r>
                      <a:endParaRPr>
                        <a:solidFill>
                          <a:schemeClr val="dk2"/>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a:solidFill>
                            <a:schemeClr val="dk2"/>
                          </a:solidFill>
                        </a:rPr>
                        <a:t>ROI, Customer Churn Reduction, Latency (ms), Uptime.</a:t>
                      </a:r>
                      <a:endParaRPr>
                        <a:solidFill>
                          <a:schemeClr val="dk2"/>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15000"/>
                        </a:lnSpc>
                        <a:spcBef>
                          <a:spcPts val="0"/>
                        </a:spcBef>
                        <a:spcAft>
                          <a:spcPts val="2400"/>
                        </a:spcAft>
                        <a:buNone/>
                      </a:pPr>
                      <a:r>
                        <a:rPr lang="en">
                          <a:solidFill>
                            <a:schemeClr val="dk2"/>
                          </a:solidFill>
                        </a:rPr>
                        <a:t>Scalability</a:t>
                      </a:r>
                      <a:endParaRPr>
                        <a:solidFill>
                          <a:schemeClr val="dk2"/>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a:solidFill>
                            <a:schemeClr val="dk2"/>
                          </a:solidFill>
                        </a:rPr>
                        <a:t>Works on a laptop/Colab (small batch).</a:t>
                      </a:r>
                      <a:endParaRPr>
                        <a:solidFill>
                          <a:schemeClr val="dk2"/>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a:solidFill>
                            <a:schemeClr val="dk2"/>
                          </a:solidFill>
                        </a:rPr>
                        <a:t>Scales to millions of requests/day; handles concurrency.</a:t>
                      </a:r>
                      <a:endParaRPr>
                        <a:solidFill>
                          <a:schemeClr val="dk2"/>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15000"/>
                        </a:lnSpc>
                        <a:spcBef>
                          <a:spcPts val="0"/>
                        </a:spcBef>
                        <a:spcAft>
                          <a:spcPts val="2400"/>
                        </a:spcAft>
                        <a:buNone/>
                      </a:pPr>
                      <a:r>
                        <a:rPr lang="en">
                          <a:solidFill>
                            <a:schemeClr val="dk2"/>
                          </a:solidFill>
                        </a:rPr>
                        <a:t>Latency</a:t>
                      </a:r>
                      <a:endParaRPr>
                        <a:solidFill>
                          <a:schemeClr val="dk2"/>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a:solidFill>
                            <a:schemeClr val="dk2"/>
                          </a:solidFill>
                        </a:rPr>
                        <a:t>Irrelevant; batch processing is acceptable.</a:t>
                      </a:r>
                      <a:endParaRPr>
                        <a:solidFill>
                          <a:schemeClr val="dk2"/>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a:solidFill>
                            <a:schemeClr val="dk2"/>
                          </a:solidFill>
                        </a:rPr>
                        <a:t>Critical; real-time inference often required (&lt;100ms).</a:t>
                      </a:r>
                      <a:endParaRPr>
                        <a:solidFill>
                          <a:schemeClr val="dk2"/>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15000"/>
                        </a:lnSpc>
                        <a:spcBef>
                          <a:spcPts val="0"/>
                        </a:spcBef>
                        <a:spcAft>
                          <a:spcPts val="2400"/>
                        </a:spcAft>
                        <a:buNone/>
                      </a:pPr>
                      <a:r>
                        <a:rPr lang="en">
                          <a:solidFill>
                            <a:schemeClr val="dk2"/>
                          </a:solidFill>
                        </a:rPr>
                        <a:t>Maintenance</a:t>
                      </a:r>
                      <a:endParaRPr>
                        <a:solidFill>
                          <a:schemeClr val="dk2"/>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a:solidFill>
                            <a:schemeClr val="dk2"/>
                          </a:solidFill>
                        </a:rPr>
                        <a:t>None; code is archived after publication.</a:t>
                      </a:r>
                      <a:endParaRPr>
                        <a:solidFill>
                          <a:schemeClr val="dk2"/>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a:solidFill>
                            <a:schemeClr val="dk2"/>
                          </a:solidFill>
                        </a:rPr>
                        <a:t>Continuous; CI/CD pipelines, drift detection, on-call rotation.</a:t>
                      </a:r>
                      <a:endParaRPr>
                        <a:solidFill>
                          <a:schemeClr val="dk2"/>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81000">
                <a:tc>
                  <a:txBody>
                    <a:bodyPr/>
                    <a:lstStyle/>
                    <a:p>
                      <a:pPr indent="0" lvl="0" marL="0" rtl="0" algn="l">
                        <a:lnSpc>
                          <a:spcPct val="115000"/>
                        </a:lnSpc>
                        <a:spcBef>
                          <a:spcPts val="0"/>
                        </a:spcBef>
                        <a:spcAft>
                          <a:spcPts val="2400"/>
                        </a:spcAft>
                        <a:buNone/>
                      </a:pPr>
                      <a:r>
                        <a:rPr lang="en">
                          <a:solidFill>
                            <a:schemeClr val="dk2"/>
                          </a:solidFill>
                        </a:rPr>
                        <a:t>Code Quality</a:t>
                      </a:r>
                      <a:endParaRPr>
                        <a:solidFill>
                          <a:schemeClr val="dk2"/>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a:solidFill>
                            <a:schemeClr val="dk2"/>
                          </a:solidFill>
                        </a:rPr>
                        <a:t>"Spaghetti code" acceptable if results are correct.</a:t>
                      </a:r>
                      <a:endParaRPr>
                        <a:solidFill>
                          <a:schemeClr val="dk2"/>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2400"/>
                        </a:spcAft>
                        <a:buNone/>
                      </a:pPr>
                      <a:r>
                        <a:rPr lang="en">
                          <a:solidFill>
                            <a:schemeClr val="dk2"/>
                          </a:solidFill>
                        </a:rPr>
                        <a:t>Modular, tested, documented, compliant with linting standards.</a:t>
                      </a:r>
                      <a:endParaRPr>
                        <a:solidFill>
                          <a:schemeClr val="dk2"/>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81" name="Shape 81"/>
        <p:cNvGrpSpPr/>
        <p:nvPr/>
      </p:nvGrpSpPr>
      <p:grpSpPr>
        <a:xfrm>
          <a:off x="0" y="0"/>
          <a:ext cx="0" cy="0"/>
          <a:chOff x="0" y="0"/>
          <a:chExt cx="0" cy="0"/>
        </a:xfrm>
      </p:grpSpPr>
      <p:sp>
        <p:nvSpPr>
          <p:cNvPr id="82" name="Google Shape;82;p18"/>
          <p:cNvSpPr txBox="1"/>
          <p:nvPr/>
        </p:nvSpPr>
        <p:spPr>
          <a:xfrm>
            <a:off x="396750" y="1371150"/>
            <a:ext cx="82536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600">
                <a:solidFill>
                  <a:schemeClr val="dk2"/>
                </a:solidFill>
              </a:rPr>
              <a:t>1] The Foundational Triad: Scientist, Engineer, Analyst</a:t>
            </a:r>
            <a:endParaRPr b="1" sz="1600">
              <a:solidFill>
                <a:schemeClr val="dk2"/>
              </a:solidFill>
            </a:endParaRPr>
          </a:p>
          <a:p>
            <a:pPr indent="0" lvl="0" marL="0" rtl="0" algn="l">
              <a:spcBef>
                <a:spcPts val="0"/>
              </a:spcBef>
              <a:spcAft>
                <a:spcPts val="0"/>
              </a:spcAft>
              <a:buNone/>
            </a:pPr>
            <a:r>
              <a:rPr lang="en" sz="1600">
                <a:solidFill>
                  <a:schemeClr val="dk2"/>
                </a:solidFill>
              </a:rPr>
              <a:t>1.1 The Data Scientist: The Scientific Problem Solver</a:t>
            </a:r>
            <a:endParaRPr sz="1600">
              <a:solidFill>
                <a:schemeClr val="dk2"/>
              </a:solidFill>
            </a:endParaRPr>
          </a:p>
          <a:p>
            <a:pPr indent="0" lvl="0" marL="0" rtl="0" algn="l">
              <a:spcBef>
                <a:spcPts val="0"/>
              </a:spcBef>
              <a:spcAft>
                <a:spcPts val="0"/>
              </a:spcAft>
              <a:buNone/>
            </a:pPr>
            <a:r>
              <a:rPr lang="en" sz="1600">
                <a:solidFill>
                  <a:schemeClr val="dk2"/>
                </a:solidFill>
              </a:rPr>
              <a:t>1.2 The Data Engineer: The Infrastructure Architect</a:t>
            </a:r>
            <a:endParaRPr sz="1600">
              <a:solidFill>
                <a:schemeClr val="dk2"/>
              </a:solidFill>
            </a:endParaRPr>
          </a:p>
          <a:p>
            <a:pPr indent="0" lvl="0" marL="0" rtl="0" algn="l">
              <a:spcBef>
                <a:spcPts val="0"/>
              </a:spcBef>
              <a:spcAft>
                <a:spcPts val="0"/>
              </a:spcAft>
              <a:buNone/>
            </a:pPr>
            <a:r>
              <a:rPr lang="en" sz="1600">
                <a:solidFill>
                  <a:schemeClr val="dk2"/>
                </a:solidFill>
              </a:rPr>
              <a:t>1.3 The Data Analyst: The Business Intelligence Strategist</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rPr b="1" lang="en" sz="1600">
                <a:solidFill>
                  <a:schemeClr val="dk2"/>
                </a:solidFill>
              </a:rPr>
              <a:t>2] The Emerging AI Specialists</a:t>
            </a:r>
            <a:endParaRPr b="1" sz="1600">
              <a:solidFill>
                <a:schemeClr val="dk2"/>
              </a:solidFill>
            </a:endParaRPr>
          </a:p>
          <a:p>
            <a:pPr indent="0" lvl="0" marL="0" rtl="0" algn="l">
              <a:spcBef>
                <a:spcPts val="0"/>
              </a:spcBef>
              <a:spcAft>
                <a:spcPts val="0"/>
              </a:spcAft>
              <a:buNone/>
            </a:pPr>
            <a:r>
              <a:rPr lang="en" sz="1600">
                <a:solidFill>
                  <a:schemeClr val="dk2"/>
                </a:solidFill>
              </a:rPr>
              <a:t>2.1 Machine Learning Engineer (MLE): The Productionizer</a:t>
            </a:r>
            <a:endParaRPr sz="1600">
              <a:solidFill>
                <a:schemeClr val="dk2"/>
              </a:solidFill>
            </a:endParaRPr>
          </a:p>
          <a:p>
            <a:pPr indent="0" lvl="0" marL="0" rtl="0" algn="l">
              <a:spcBef>
                <a:spcPts val="0"/>
              </a:spcBef>
              <a:spcAft>
                <a:spcPts val="0"/>
              </a:spcAft>
              <a:buNone/>
            </a:pPr>
            <a:r>
              <a:rPr lang="en" sz="1600">
                <a:solidFill>
                  <a:schemeClr val="dk2"/>
                </a:solidFill>
              </a:rPr>
              <a:t>2.2 Generative AI Engineer: The New Frontier</a:t>
            </a:r>
            <a:endParaRPr sz="1600">
              <a:solidFill>
                <a:schemeClr val="dk2"/>
              </a:solidFill>
            </a:endParaRPr>
          </a:p>
          <a:p>
            <a:pPr indent="0" lvl="0" marL="0" rtl="0" algn="l">
              <a:spcBef>
                <a:spcPts val="0"/>
              </a:spcBef>
              <a:spcAft>
                <a:spcPts val="0"/>
              </a:spcAft>
              <a:buNone/>
            </a:pPr>
            <a:r>
              <a:rPr lang="en" sz="1600">
                <a:solidFill>
                  <a:schemeClr val="dk2"/>
                </a:solidFill>
              </a:rPr>
              <a:t>2.3 AI Ethicist &amp; Responsible AI Officer</a:t>
            </a:r>
            <a:endParaRPr sz="1600">
              <a:solidFill>
                <a:schemeClr val="dk2"/>
              </a:solidFill>
            </a:endParaRPr>
          </a:p>
        </p:txBody>
      </p:sp>
      <p:sp>
        <p:nvSpPr>
          <p:cNvPr id="83" name="Google Shape;83;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Career Options</a:t>
            </a:r>
            <a:endParaRPr/>
          </a:p>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87" name="Shape 87"/>
        <p:cNvGrpSpPr/>
        <p:nvPr/>
      </p:nvGrpSpPr>
      <p:grpSpPr>
        <a:xfrm>
          <a:off x="0" y="0"/>
          <a:ext cx="0" cy="0"/>
          <a:chOff x="0" y="0"/>
          <a:chExt cx="0" cy="0"/>
        </a:xfrm>
      </p:grpSpPr>
      <p:sp>
        <p:nvSpPr>
          <p:cNvPr id="88" name="Google Shape;88;p19"/>
          <p:cNvSpPr txBox="1"/>
          <p:nvPr/>
        </p:nvSpPr>
        <p:spPr>
          <a:xfrm>
            <a:off x="396750" y="1371150"/>
            <a:ext cx="8253600" cy="264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rPr>
              <a:t>The role of the Data Scientist has matured from experimental modeling to delivering measurable business impact. Expected to be a "Full-Stack" professional. </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None/>
            </a:pPr>
            <a:r>
              <a:rPr b="1" lang="en" sz="1600">
                <a:solidFill>
                  <a:schemeClr val="dk2"/>
                </a:solidFill>
              </a:rPr>
              <a:t>Core Responsibility</a:t>
            </a:r>
            <a:r>
              <a:rPr lang="en" sz="1600">
                <a:solidFill>
                  <a:schemeClr val="dk2"/>
                </a:solidFill>
              </a:rPr>
              <a:t>: The primary mandate is to solve complex business ambiguity using statistical modeling and machine learning. </a:t>
            </a:r>
            <a:endParaRPr sz="1600">
              <a:solidFill>
                <a:schemeClr val="dk2"/>
              </a:solidFill>
            </a:endParaRPr>
          </a:p>
          <a:p>
            <a:pPr indent="0" lvl="0" marL="0" rtl="0" algn="l">
              <a:spcBef>
                <a:spcPts val="0"/>
              </a:spcBef>
              <a:spcAft>
                <a:spcPts val="0"/>
              </a:spcAft>
              <a:buNone/>
            </a:pPr>
            <a:r>
              <a:rPr b="1" lang="en" sz="1600">
                <a:solidFill>
                  <a:schemeClr val="dk2"/>
                </a:solidFill>
              </a:rPr>
              <a:t>The Differentiator</a:t>
            </a:r>
            <a:r>
              <a:rPr lang="en" sz="1600">
                <a:solidFill>
                  <a:schemeClr val="dk2"/>
                </a:solidFill>
              </a:rPr>
              <a:t>: Storytelling and explainability have emerged as the critical differentiators. </a:t>
            </a:r>
            <a:endParaRPr sz="1600">
              <a:solidFill>
                <a:schemeClr val="dk2"/>
              </a:solidFill>
            </a:endParaRPr>
          </a:p>
          <a:p>
            <a:pPr indent="0" lvl="0" marL="0" rtl="0" algn="l">
              <a:spcBef>
                <a:spcPts val="0"/>
              </a:spcBef>
              <a:spcAft>
                <a:spcPts val="0"/>
              </a:spcAft>
              <a:buNone/>
            </a:pPr>
            <a:r>
              <a:rPr b="1" lang="en" sz="1600">
                <a:solidFill>
                  <a:schemeClr val="dk2"/>
                </a:solidFill>
              </a:rPr>
              <a:t>Skill Requirements</a:t>
            </a:r>
            <a:r>
              <a:rPr lang="en" sz="1600">
                <a:solidFill>
                  <a:schemeClr val="dk2"/>
                </a:solidFill>
              </a:rPr>
              <a:t>: Strong foundation in statistics, proficiency in Python (Scikit-Learn, Pandas), and a deep understanding of ML algorithms (Random Forest, XGBoost, Gradient Boosting).</a:t>
            </a:r>
            <a:endParaRPr sz="1600">
              <a:solidFill>
                <a:schemeClr val="dk2"/>
              </a:solidFill>
            </a:endParaRPr>
          </a:p>
        </p:txBody>
      </p:sp>
      <p:sp>
        <p:nvSpPr>
          <p:cNvPr id="89" name="Google Shape;8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1.1 The Data Scientist: The Scientific Problem Solver</a:t>
            </a:r>
            <a:endParaRPr/>
          </a:p>
          <a:p>
            <a:pPr indent="0" lvl="0" marL="0" rtl="0" algn="l">
              <a:spcBef>
                <a:spcPts val="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3" name="Shape 93"/>
        <p:cNvGrpSpPr/>
        <p:nvPr/>
      </p:nvGrpSpPr>
      <p:grpSpPr>
        <a:xfrm>
          <a:off x="0" y="0"/>
          <a:ext cx="0" cy="0"/>
          <a:chOff x="0" y="0"/>
          <a:chExt cx="0" cy="0"/>
        </a:xfrm>
      </p:grpSpPr>
      <p:sp>
        <p:nvSpPr>
          <p:cNvPr id="94" name="Google Shape;94;p20"/>
          <p:cNvSpPr txBox="1"/>
          <p:nvPr/>
        </p:nvSpPr>
        <p:spPr>
          <a:xfrm>
            <a:off x="396750" y="1371150"/>
            <a:ext cx="8253600" cy="264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rPr>
              <a:t>Often described as the "unsung heroes" of the AI revolution. The logic is simple: advanced AI cannot exist without robust data infrastructure.</a:t>
            </a:r>
            <a:endParaRPr sz="1600">
              <a:solidFill>
                <a:schemeClr val="dk2"/>
              </a:solidFill>
            </a:endParaRPr>
          </a:p>
          <a:p>
            <a:pPr indent="0" lvl="0" marL="0" rtl="0" algn="l">
              <a:spcBef>
                <a:spcPts val="0"/>
              </a:spcBef>
              <a:spcAft>
                <a:spcPts val="0"/>
              </a:spcAft>
              <a:buClr>
                <a:schemeClr val="dk1"/>
              </a:buClr>
              <a:buSzPts val="1100"/>
              <a:buFont typeface="Arial"/>
              <a:buNone/>
            </a:pPr>
            <a:r>
              <a:t/>
            </a:r>
            <a:endParaRPr sz="1600">
              <a:solidFill>
                <a:schemeClr val="dk2"/>
              </a:solidFill>
            </a:endParaRPr>
          </a:p>
          <a:p>
            <a:pPr indent="0" lvl="0" marL="0" rtl="0" algn="l">
              <a:spcBef>
                <a:spcPts val="0"/>
              </a:spcBef>
              <a:spcAft>
                <a:spcPts val="0"/>
              </a:spcAft>
              <a:buClr>
                <a:schemeClr val="dk1"/>
              </a:buClr>
              <a:buSzPts val="1100"/>
              <a:buFont typeface="Arial"/>
              <a:buNone/>
            </a:pPr>
            <a:r>
              <a:rPr b="1" lang="en" sz="1600">
                <a:solidFill>
                  <a:schemeClr val="dk2"/>
                </a:solidFill>
              </a:rPr>
              <a:t>Core Responsibility:</a:t>
            </a:r>
            <a:r>
              <a:rPr lang="en" sz="1600">
                <a:solidFill>
                  <a:schemeClr val="dk2"/>
                </a:solidFill>
              </a:rPr>
              <a:t> Building and maintaining scalable data pipelines (ETL/ELT), managing data lakes and warehouses (Snowflake, Databricks, BigQuery), and ensuring data quality and governance.</a:t>
            </a:r>
            <a:endParaRPr sz="1600">
              <a:solidFill>
                <a:schemeClr val="dk2"/>
              </a:solidFill>
            </a:endParaRPr>
          </a:p>
          <a:p>
            <a:pPr indent="0" lvl="0" marL="0" rtl="0" algn="l">
              <a:spcBef>
                <a:spcPts val="0"/>
              </a:spcBef>
              <a:spcAft>
                <a:spcPts val="0"/>
              </a:spcAft>
              <a:buClr>
                <a:schemeClr val="dk1"/>
              </a:buClr>
              <a:buSzPts val="1100"/>
              <a:buFont typeface="Arial"/>
              <a:buNone/>
            </a:pPr>
            <a:r>
              <a:rPr b="1" lang="en" sz="1600">
                <a:solidFill>
                  <a:schemeClr val="dk2"/>
                </a:solidFill>
              </a:rPr>
              <a:t>The Differentiator:</a:t>
            </a:r>
            <a:r>
              <a:rPr lang="en" sz="1600">
                <a:solidFill>
                  <a:schemeClr val="dk2"/>
                </a:solidFill>
              </a:rPr>
              <a:t> Engineers who can seamlessly integrate unstructured data (text, images) into analytical pipelines are indispensable.   </a:t>
            </a:r>
            <a:endParaRPr sz="1600">
              <a:solidFill>
                <a:schemeClr val="dk2"/>
              </a:solidFill>
            </a:endParaRPr>
          </a:p>
          <a:p>
            <a:pPr indent="0" lvl="0" marL="0" rtl="0" algn="l">
              <a:spcBef>
                <a:spcPts val="0"/>
              </a:spcBef>
              <a:spcAft>
                <a:spcPts val="0"/>
              </a:spcAft>
              <a:buNone/>
            </a:pPr>
            <a:r>
              <a:rPr b="1" lang="en" sz="1600">
                <a:solidFill>
                  <a:schemeClr val="dk2"/>
                </a:solidFill>
              </a:rPr>
              <a:t>Skill Requirements:</a:t>
            </a:r>
            <a:r>
              <a:rPr lang="en" sz="1600">
                <a:solidFill>
                  <a:schemeClr val="dk2"/>
                </a:solidFill>
              </a:rPr>
              <a:t> Apache Spark, Apache Kafka for streaming, Airflow for orchestration, and proficiency in SQL and Python/Scala.</a:t>
            </a:r>
            <a:endParaRPr sz="1600">
              <a:solidFill>
                <a:schemeClr val="dk2"/>
              </a:solidFill>
            </a:endParaRPr>
          </a:p>
        </p:txBody>
      </p:sp>
      <p:sp>
        <p:nvSpPr>
          <p:cNvPr id="95" name="Google Shape;95;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1.2 The Data Engineer: The Infrastructure Architect</a:t>
            </a:r>
            <a:endParaRPr/>
          </a:p>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99" name="Shape 99"/>
        <p:cNvGrpSpPr/>
        <p:nvPr/>
      </p:nvGrpSpPr>
      <p:grpSpPr>
        <a:xfrm>
          <a:off x="0" y="0"/>
          <a:ext cx="0" cy="0"/>
          <a:chOff x="0" y="0"/>
          <a:chExt cx="0" cy="0"/>
        </a:xfrm>
      </p:grpSpPr>
      <p:sp>
        <p:nvSpPr>
          <p:cNvPr id="100" name="Google Shape;100;p21"/>
          <p:cNvSpPr txBox="1"/>
          <p:nvPr/>
        </p:nvSpPr>
        <p:spPr>
          <a:xfrm>
            <a:off x="396750" y="1371150"/>
            <a:ext cx="8253600" cy="3140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rPr>
              <a:t>The role of the Data Analyst has evolved from "report generation" to "strategic insight generation." </a:t>
            </a:r>
            <a:endParaRPr sz="1600">
              <a:solidFill>
                <a:schemeClr val="dk2"/>
              </a:solidFill>
            </a:endParaRPr>
          </a:p>
          <a:p>
            <a:pPr indent="0" lvl="0" marL="0" rtl="0" algn="l">
              <a:spcBef>
                <a:spcPts val="0"/>
              </a:spcBef>
              <a:spcAft>
                <a:spcPts val="0"/>
              </a:spcAft>
              <a:buClr>
                <a:schemeClr val="dk1"/>
              </a:buClr>
              <a:buSzPts val="1100"/>
              <a:buFont typeface="Arial"/>
              <a:buNone/>
            </a:pPr>
            <a:r>
              <a:t/>
            </a:r>
            <a:endParaRPr sz="1600">
              <a:solidFill>
                <a:schemeClr val="dk2"/>
              </a:solidFill>
            </a:endParaRPr>
          </a:p>
          <a:p>
            <a:pPr indent="0" lvl="0" marL="0" rtl="0" algn="l">
              <a:spcBef>
                <a:spcPts val="0"/>
              </a:spcBef>
              <a:spcAft>
                <a:spcPts val="0"/>
              </a:spcAft>
              <a:buClr>
                <a:schemeClr val="dk1"/>
              </a:buClr>
              <a:buSzPts val="1100"/>
              <a:buFont typeface="Arial"/>
              <a:buNone/>
            </a:pPr>
            <a:r>
              <a:rPr b="1" lang="en" sz="1600">
                <a:solidFill>
                  <a:schemeClr val="dk2"/>
                </a:solidFill>
              </a:rPr>
              <a:t>Core Responsibility:</a:t>
            </a:r>
            <a:r>
              <a:rPr lang="en" sz="1600">
                <a:solidFill>
                  <a:schemeClr val="dk2"/>
                </a:solidFill>
              </a:rPr>
              <a:t> Translating raw data into actionable business intelligence. This involves cleaning data, creating interactive dashboards, and conducting ad-hoc analyses to answer immediate business questions.</a:t>
            </a:r>
            <a:endParaRPr sz="1600">
              <a:solidFill>
                <a:schemeClr val="dk2"/>
              </a:solidFill>
            </a:endParaRPr>
          </a:p>
          <a:p>
            <a:pPr indent="0" lvl="0" marL="0" rtl="0" algn="l">
              <a:spcBef>
                <a:spcPts val="0"/>
              </a:spcBef>
              <a:spcAft>
                <a:spcPts val="0"/>
              </a:spcAft>
              <a:buNone/>
            </a:pPr>
            <a:r>
              <a:rPr b="1" lang="en" sz="1600">
                <a:solidFill>
                  <a:schemeClr val="dk2"/>
                </a:solidFill>
              </a:rPr>
              <a:t>The Differentiator:</a:t>
            </a:r>
            <a:r>
              <a:rPr lang="en" sz="1600">
                <a:solidFill>
                  <a:schemeClr val="dk2"/>
                </a:solidFill>
              </a:rPr>
              <a:t> Business acumen is the primary asset. An analyst who understands unit economics, marketing funnels, or supply chain dynamics can generate insights that a purely technical coder cannot. </a:t>
            </a:r>
            <a:endParaRPr sz="1600">
              <a:solidFill>
                <a:schemeClr val="dk2"/>
              </a:solidFill>
            </a:endParaRPr>
          </a:p>
          <a:p>
            <a:pPr indent="0" lvl="0" marL="0" rtl="0" algn="l">
              <a:spcBef>
                <a:spcPts val="0"/>
              </a:spcBef>
              <a:spcAft>
                <a:spcPts val="0"/>
              </a:spcAft>
              <a:buClr>
                <a:schemeClr val="dk1"/>
              </a:buClr>
              <a:buSzPts val="1100"/>
              <a:buFont typeface="Arial"/>
              <a:buNone/>
            </a:pPr>
            <a:r>
              <a:rPr b="1" lang="en" sz="1600">
                <a:solidFill>
                  <a:schemeClr val="dk2"/>
                </a:solidFill>
              </a:rPr>
              <a:t>Skill Requirements:</a:t>
            </a:r>
            <a:r>
              <a:rPr lang="en" sz="1600">
                <a:solidFill>
                  <a:schemeClr val="dk2"/>
                </a:solidFill>
              </a:rPr>
              <a:t> Advanced SQL, PowerBI/Tableau, and increasingly, Python for statistical analysis.</a:t>
            </a:r>
            <a:endParaRPr sz="1600">
              <a:solidFill>
                <a:schemeClr val="dk2"/>
              </a:solidFill>
            </a:endParaRPr>
          </a:p>
          <a:p>
            <a:pPr indent="0" lvl="0" marL="0" rtl="0" algn="l">
              <a:spcBef>
                <a:spcPts val="0"/>
              </a:spcBef>
              <a:spcAft>
                <a:spcPts val="0"/>
              </a:spcAft>
              <a:buNone/>
            </a:pPr>
            <a:r>
              <a:t/>
            </a:r>
            <a:endParaRPr sz="1600">
              <a:solidFill>
                <a:schemeClr val="dk2"/>
              </a:solidFill>
            </a:endParaRPr>
          </a:p>
        </p:txBody>
      </p:sp>
      <p:sp>
        <p:nvSpPr>
          <p:cNvPr id="101" name="Google Shape;101;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1.3 The Data Analyst: The Business Intelligence Strategist</a:t>
            </a:r>
            <a:endParaRPr/>
          </a:p>
          <a:p>
            <a:pPr indent="0" lvl="0" marL="0" rtl="0" algn="l">
              <a:spcBef>
                <a:spcPts val="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05" name="Shape 105"/>
        <p:cNvGrpSpPr/>
        <p:nvPr/>
      </p:nvGrpSpPr>
      <p:grpSpPr>
        <a:xfrm>
          <a:off x="0" y="0"/>
          <a:ext cx="0" cy="0"/>
          <a:chOff x="0" y="0"/>
          <a:chExt cx="0" cy="0"/>
        </a:xfrm>
      </p:grpSpPr>
      <p:sp>
        <p:nvSpPr>
          <p:cNvPr id="106" name="Google Shape;106;p22"/>
          <p:cNvSpPr txBox="1"/>
          <p:nvPr/>
        </p:nvSpPr>
        <p:spPr>
          <a:xfrm>
            <a:off x="396750" y="1371150"/>
            <a:ext cx="8253600" cy="2893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 sz="1600">
                <a:solidFill>
                  <a:schemeClr val="dk2"/>
                </a:solidFill>
              </a:rPr>
              <a:t>The Machine Learning Engineer bridges the gap between the Data Scientist's prototype and the software engineer's production system.</a:t>
            </a:r>
            <a:endParaRPr sz="1600">
              <a:solidFill>
                <a:schemeClr val="dk2"/>
              </a:solidFill>
            </a:endParaRPr>
          </a:p>
          <a:p>
            <a:pPr indent="0" lvl="0" marL="0" rtl="0" algn="l">
              <a:spcBef>
                <a:spcPts val="0"/>
              </a:spcBef>
              <a:spcAft>
                <a:spcPts val="0"/>
              </a:spcAft>
              <a:buNone/>
            </a:pPr>
            <a:r>
              <a:t/>
            </a:r>
            <a:endParaRPr sz="1600">
              <a:solidFill>
                <a:schemeClr val="dk2"/>
              </a:solidFill>
            </a:endParaRPr>
          </a:p>
          <a:p>
            <a:pPr indent="0" lvl="0" marL="0" rtl="0" algn="l">
              <a:spcBef>
                <a:spcPts val="0"/>
              </a:spcBef>
              <a:spcAft>
                <a:spcPts val="0"/>
              </a:spcAft>
              <a:buClr>
                <a:schemeClr val="dk1"/>
              </a:buClr>
              <a:buSzPts val="1100"/>
              <a:buFont typeface="Arial"/>
              <a:buNone/>
            </a:pPr>
            <a:r>
              <a:rPr b="1" lang="en" sz="1600">
                <a:solidFill>
                  <a:schemeClr val="dk2"/>
                </a:solidFill>
              </a:rPr>
              <a:t>Core Responsibility:</a:t>
            </a:r>
            <a:r>
              <a:rPr lang="en" sz="1600">
                <a:solidFill>
                  <a:schemeClr val="dk2"/>
                </a:solidFill>
              </a:rPr>
              <a:t> Taking a model that works on a laptop and making it work at “scale”. This involves optimizing model performance, managing infrastructure, and implementing monitoring systems.</a:t>
            </a:r>
            <a:endParaRPr sz="1600">
              <a:solidFill>
                <a:schemeClr val="dk2"/>
              </a:solidFill>
            </a:endParaRPr>
          </a:p>
          <a:p>
            <a:pPr indent="0" lvl="0" marL="0" rtl="0" algn="l">
              <a:spcBef>
                <a:spcPts val="0"/>
              </a:spcBef>
              <a:spcAft>
                <a:spcPts val="0"/>
              </a:spcAft>
              <a:buClr>
                <a:schemeClr val="dk1"/>
              </a:buClr>
              <a:buSzPts val="1100"/>
              <a:buFont typeface="Arial"/>
              <a:buNone/>
            </a:pPr>
            <a:r>
              <a:rPr b="1" lang="en" sz="1600">
                <a:solidFill>
                  <a:schemeClr val="dk2"/>
                </a:solidFill>
              </a:rPr>
              <a:t>The Differentiator:</a:t>
            </a:r>
            <a:r>
              <a:rPr lang="en" sz="1600">
                <a:solidFill>
                  <a:schemeClr val="dk2"/>
                </a:solidFill>
              </a:rPr>
              <a:t> Mastery of MLOps (Machine Learning Operations). The ability to build CI/CD pipelines for ML, manage data and model versioning (using MLflow and DVC), and implement A/B testing frameworks in production is non-negotiable.   </a:t>
            </a:r>
            <a:endParaRPr sz="1600">
              <a:solidFill>
                <a:schemeClr val="dk2"/>
              </a:solidFill>
            </a:endParaRPr>
          </a:p>
          <a:p>
            <a:pPr indent="0" lvl="0" marL="0" rtl="0" algn="l">
              <a:spcBef>
                <a:spcPts val="0"/>
              </a:spcBef>
              <a:spcAft>
                <a:spcPts val="0"/>
              </a:spcAft>
              <a:buNone/>
            </a:pPr>
            <a:r>
              <a:rPr b="1" lang="en" sz="1600">
                <a:solidFill>
                  <a:schemeClr val="dk2"/>
                </a:solidFill>
              </a:rPr>
              <a:t>Skill Requirements:</a:t>
            </a:r>
            <a:r>
              <a:rPr lang="en" sz="1600">
                <a:solidFill>
                  <a:schemeClr val="dk2"/>
                </a:solidFill>
              </a:rPr>
              <a:t> TensorFlow/PyTorch, Docker, Kubernetes, Cloud Platforms (AWS SageMaker/Azure ML).</a:t>
            </a:r>
            <a:endParaRPr sz="1600">
              <a:solidFill>
                <a:schemeClr val="dk2"/>
              </a:solidFill>
            </a:endParaRPr>
          </a:p>
        </p:txBody>
      </p:sp>
      <p:sp>
        <p:nvSpPr>
          <p:cNvPr id="107" name="Google Shape;107;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2.1 Machine Learning Engineer (MLE): The Productionizer</a:t>
            </a:r>
            <a:endParaRPr/>
          </a:p>
          <a:p>
            <a:pPr indent="0" lvl="0" marL="0" rtl="0" algn="l">
              <a:spcBef>
                <a:spcPts val="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11" name="Shape 111"/>
        <p:cNvGrpSpPr/>
        <p:nvPr/>
      </p:nvGrpSpPr>
      <p:grpSpPr>
        <a:xfrm>
          <a:off x="0" y="0"/>
          <a:ext cx="0" cy="0"/>
          <a:chOff x="0" y="0"/>
          <a:chExt cx="0" cy="0"/>
        </a:xfrm>
      </p:grpSpPr>
      <p:sp>
        <p:nvSpPr>
          <p:cNvPr id="112" name="Google Shape;112;p23"/>
          <p:cNvSpPr txBox="1"/>
          <p:nvPr/>
        </p:nvSpPr>
        <p:spPr>
          <a:xfrm>
            <a:off x="396750" y="1371150"/>
            <a:ext cx="8253600" cy="3140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rPr>
              <a:t>As companies move from "chatbots" to "cognitive engines," the need for specialized GenAI talent has exploded.</a:t>
            </a:r>
            <a:endParaRPr sz="1600">
              <a:solidFill>
                <a:schemeClr val="dk2"/>
              </a:solidFill>
            </a:endParaRPr>
          </a:p>
          <a:p>
            <a:pPr indent="0" lvl="0" marL="0" rtl="0" algn="l">
              <a:spcBef>
                <a:spcPts val="0"/>
              </a:spcBef>
              <a:spcAft>
                <a:spcPts val="0"/>
              </a:spcAft>
              <a:buClr>
                <a:schemeClr val="dk1"/>
              </a:buClr>
              <a:buSzPts val="1100"/>
              <a:buFont typeface="Arial"/>
              <a:buNone/>
            </a:pPr>
            <a:r>
              <a:t/>
            </a:r>
            <a:endParaRPr sz="1600">
              <a:solidFill>
                <a:schemeClr val="dk2"/>
              </a:solidFill>
            </a:endParaRPr>
          </a:p>
          <a:p>
            <a:pPr indent="0" lvl="0" marL="0" rtl="0" algn="l">
              <a:spcBef>
                <a:spcPts val="0"/>
              </a:spcBef>
              <a:spcAft>
                <a:spcPts val="0"/>
              </a:spcAft>
              <a:buClr>
                <a:schemeClr val="dk1"/>
              </a:buClr>
              <a:buSzPts val="1100"/>
              <a:buFont typeface="Arial"/>
              <a:buNone/>
            </a:pPr>
            <a:r>
              <a:rPr b="1" lang="en" sz="1600">
                <a:solidFill>
                  <a:schemeClr val="dk2"/>
                </a:solidFill>
              </a:rPr>
              <a:t>Core Responsibility:</a:t>
            </a:r>
            <a:r>
              <a:rPr lang="en" sz="1600">
                <a:solidFill>
                  <a:schemeClr val="dk2"/>
                </a:solidFill>
              </a:rPr>
              <a:t> designing and deploying systems powered by Large Language Models (LLMs). This includes fine-tuning models, building RAG pipelines to ground models in enterprise data, and optimizing context windows.</a:t>
            </a:r>
            <a:endParaRPr sz="1600">
              <a:solidFill>
                <a:schemeClr val="dk2"/>
              </a:solidFill>
            </a:endParaRPr>
          </a:p>
          <a:p>
            <a:pPr indent="0" lvl="0" marL="0" rtl="0" algn="l">
              <a:spcBef>
                <a:spcPts val="0"/>
              </a:spcBef>
              <a:spcAft>
                <a:spcPts val="0"/>
              </a:spcAft>
              <a:buClr>
                <a:schemeClr val="dk1"/>
              </a:buClr>
              <a:buSzPts val="1100"/>
              <a:buFont typeface="Arial"/>
              <a:buNone/>
            </a:pPr>
            <a:r>
              <a:rPr b="1" lang="en" sz="1600">
                <a:solidFill>
                  <a:schemeClr val="dk2"/>
                </a:solidFill>
              </a:rPr>
              <a:t>The Differentiator:</a:t>
            </a:r>
            <a:r>
              <a:rPr lang="en" sz="1600">
                <a:solidFill>
                  <a:schemeClr val="dk2"/>
                </a:solidFill>
              </a:rPr>
              <a:t> Deep understanding of the "AI Stack" for GenAI—LangChain for orchestration, vector stores for memory, and evaluation frameworks (like RAGAS) to prevent hallucinations.   </a:t>
            </a:r>
            <a:endParaRPr sz="1600">
              <a:solidFill>
                <a:schemeClr val="dk2"/>
              </a:solidFill>
            </a:endParaRPr>
          </a:p>
          <a:p>
            <a:pPr indent="0" lvl="0" marL="0" rtl="0" algn="l">
              <a:spcBef>
                <a:spcPts val="0"/>
              </a:spcBef>
              <a:spcAft>
                <a:spcPts val="0"/>
              </a:spcAft>
              <a:buClr>
                <a:schemeClr val="dk1"/>
              </a:buClr>
              <a:buSzPts val="1100"/>
              <a:buFont typeface="Arial"/>
              <a:buNone/>
            </a:pPr>
            <a:r>
              <a:rPr b="1" lang="en" sz="1600">
                <a:solidFill>
                  <a:schemeClr val="dk2"/>
                </a:solidFill>
              </a:rPr>
              <a:t>Skill Requirements:</a:t>
            </a:r>
            <a:r>
              <a:rPr lang="en" sz="1600">
                <a:solidFill>
                  <a:schemeClr val="dk2"/>
                </a:solidFill>
              </a:rPr>
              <a:t> Python, LangChain, Hugging Face ecosystem, OpenAI/Anthropic APIs, Prompt Engineering.</a:t>
            </a:r>
            <a:endParaRPr sz="1600">
              <a:solidFill>
                <a:schemeClr val="dk2"/>
              </a:solidFill>
            </a:endParaRPr>
          </a:p>
          <a:p>
            <a:pPr indent="0" lvl="0" marL="0" rtl="0" algn="l">
              <a:spcBef>
                <a:spcPts val="0"/>
              </a:spcBef>
              <a:spcAft>
                <a:spcPts val="0"/>
              </a:spcAft>
              <a:buNone/>
            </a:pPr>
            <a:r>
              <a:t/>
            </a:r>
            <a:endParaRPr sz="1600">
              <a:solidFill>
                <a:schemeClr val="dk2"/>
              </a:solidFill>
            </a:endParaRPr>
          </a:p>
        </p:txBody>
      </p:sp>
      <p:sp>
        <p:nvSpPr>
          <p:cNvPr id="113" name="Google Shape;113;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2.2 Generative AI Engineer: The New Frontier</a:t>
            </a:r>
            <a:endParaRPr/>
          </a:p>
          <a:p>
            <a:pPr indent="0" lvl="0" marL="0" rtl="0" algn="l">
              <a:spcBef>
                <a:spcPts val="0"/>
              </a:spcBef>
              <a:spcAft>
                <a:spcPts val="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17" name="Shape 117"/>
        <p:cNvGrpSpPr/>
        <p:nvPr/>
      </p:nvGrpSpPr>
      <p:grpSpPr>
        <a:xfrm>
          <a:off x="0" y="0"/>
          <a:ext cx="0" cy="0"/>
          <a:chOff x="0" y="0"/>
          <a:chExt cx="0" cy="0"/>
        </a:xfrm>
      </p:grpSpPr>
      <p:sp>
        <p:nvSpPr>
          <p:cNvPr id="118" name="Google Shape;118;p24"/>
          <p:cNvSpPr txBox="1"/>
          <p:nvPr/>
        </p:nvSpPr>
        <p:spPr>
          <a:xfrm>
            <a:off x="396750" y="1371150"/>
            <a:ext cx="8253600" cy="215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rPr>
              <a:t>With the implementation of regulations like India's Digital Personal Data Protection (DPDP) Act, companies face legal and reputational risks from biased or unsafe AI.</a:t>
            </a:r>
            <a:endParaRPr sz="1600">
              <a:solidFill>
                <a:schemeClr val="dk2"/>
              </a:solidFill>
            </a:endParaRPr>
          </a:p>
          <a:p>
            <a:pPr indent="0" lvl="0" marL="0" rtl="0" algn="l">
              <a:spcBef>
                <a:spcPts val="0"/>
              </a:spcBef>
              <a:spcAft>
                <a:spcPts val="0"/>
              </a:spcAft>
              <a:buClr>
                <a:schemeClr val="dk1"/>
              </a:buClr>
              <a:buSzPts val="1100"/>
              <a:buFont typeface="Arial"/>
              <a:buNone/>
            </a:pPr>
            <a:r>
              <a:t/>
            </a:r>
            <a:endParaRPr sz="1600">
              <a:solidFill>
                <a:schemeClr val="dk2"/>
              </a:solidFill>
            </a:endParaRPr>
          </a:p>
          <a:p>
            <a:pPr indent="0" lvl="0" marL="0" rtl="0" algn="l">
              <a:spcBef>
                <a:spcPts val="0"/>
              </a:spcBef>
              <a:spcAft>
                <a:spcPts val="0"/>
              </a:spcAft>
              <a:buClr>
                <a:schemeClr val="dk1"/>
              </a:buClr>
              <a:buSzPts val="1100"/>
              <a:buFont typeface="Arial"/>
              <a:buNone/>
            </a:pPr>
            <a:r>
              <a:rPr b="1" lang="en" sz="1600">
                <a:solidFill>
                  <a:schemeClr val="dk2"/>
                </a:solidFill>
              </a:rPr>
              <a:t>Core Responsibility:</a:t>
            </a:r>
            <a:r>
              <a:rPr lang="en" sz="1600">
                <a:solidFill>
                  <a:schemeClr val="dk2"/>
                </a:solidFill>
              </a:rPr>
              <a:t> Auditing AI systems for bias, fairness, and safety. They develop governance frameworks to ensure models do not discriminate or hallucinate harmful content.   </a:t>
            </a:r>
            <a:endParaRPr sz="1600">
              <a:solidFill>
                <a:schemeClr val="dk2"/>
              </a:solidFill>
            </a:endParaRPr>
          </a:p>
          <a:p>
            <a:pPr indent="0" lvl="0" marL="0" rtl="0" algn="l">
              <a:spcBef>
                <a:spcPts val="0"/>
              </a:spcBef>
              <a:spcAft>
                <a:spcPts val="0"/>
              </a:spcAft>
              <a:buNone/>
            </a:pPr>
            <a:r>
              <a:rPr b="1" lang="en" sz="1600">
                <a:solidFill>
                  <a:schemeClr val="dk2"/>
                </a:solidFill>
              </a:rPr>
              <a:t>The Differentiator:</a:t>
            </a:r>
            <a:r>
              <a:rPr lang="en" sz="1600">
                <a:solidFill>
                  <a:schemeClr val="dk2"/>
                </a:solidFill>
              </a:rPr>
              <a:t> A hybrid background combining technical understanding of model interpretability (SHAP/LIME values) with knowledge of legal and sociological frameworks.</a:t>
            </a:r>
            <a:endParaRPr sz="1600">
              <a:solidFill>
                <a:schemeClr val="dk2"/>
              </a:solidFill>
            </a:endParaRPr>
          </a:p>
        </p:txBody>
      </p:sp>
      <p:sp>
        <p:nvSpPr>
          <p:cNvPr id="119" name="Google Shape;119;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2.3 AI Ethicist &amp; Responsible AI Officer</a:t>
            </a:r>
            <a:endParaRPr/>
          </a:p>
          <a:p>
            <a:pPr indent="0" lvl="0" marL="0" rtl="0" algn="l">
              <a:spcBef>
                <a:spcPts val="0"/>
              </a:spcBef>
              <a:spcAft>
                <a:spcPts val="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23" name="Shape 123"/>
        <p:cNvGrpSpPr/>
        <p:nvPr/>
      </p:nvGrpSpPr>
      <p:grpSpPr>
        <a:xfrm>
          <a:off x="0" y="0"/>
          <a:ext cx="0" cy="0"/>
          <a:chOff x="0" y="0"/>
          <a:chExt cx="0" cy="0"/>
        </a:xfrm>
      </p:grpSpPr>
      <p:pic>
        <p:nvPicPr>
          <p:cNvPr id="124" name="Google Shape;124;p25"/>
          <p:cNvPicPr preferRelativeResize="0"/>
          <p:nvPr/>
        </p:nvPicPr>
        <p:blipFill rotWithShape="1">
          <a:blip r:embed="rId3">
            <a:alphaModFix/>
          </a:blip>
          <a:srcRect b="9" l="0" r="0" t="9"/>
          <a:stretch/>
        </p:blipFill>
        <p:spPr>
          <a:xfrm>
            <a:off x="326925" y="1445302"/>
            <a:ext cx="4883675" cy="3175525"/>
          </a:xfrm>
          <a:prstGeom prst="rect">
            <a:avLst/>
          </a:prstGeom>
          <a:noFill/>
          <a:ln>
            <a:noFill/>
          </a:ln>
        </p:spPr>
      </p:pic>
      <p:pic>
        <p:nvPicPr>
          <p:cNvPr id="125" name="Google Shape;125;p25"/>
          <p:cNvPicPr preferRelativeResize="0"/>
          <p:nvPr/>
        </p:nvPicPr>
        <p:blipFill>
          <a:blip r:embed="rId4">
            <a:alphaModFix/>
          </a:blip>
          <a:stretch>
            <a:fillRect/>
          </a:stretch>
        </p:blipFill>
        <p:spPr>
          <a:xfrm>
            <a:off x="5285050" y="1474200"/>
            <a:ext cx="3628600" cy="2947737"/>
          </a:xfrm>
          <a:prstGeom prst="rect">
            <a:avLst/>
          </a:prstGeom>
          <a:noFill/>
          <a:ln>
            <a:noFill/>
          </a:ln>
        </p:spPr>
      </p:pic>
      <p:sp>
        <p:nvSpPr>
          <p:cNvPr id="126" name="Google Shape;126;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Skills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30" name="Shape 130"/>
        <p:cNvGrpSpPr/>
        <p:nvPr/>
      </p:nvGrpSpPr>
      <p:grpSpPr>
        <a:xfrm>
          <a:off x="0" y="0"/>
          <a:ext cx="0" cy="0"/>
          <a:chOff x="0" y="0"/>
          <a:chExt cx="0" cy="0"/>
        </a:xfrm>
      </p:grpSpPr>
      <p:sp>
        <p:nvSpPr>
          <p:cNvPr id="131" name="Google Shape;131;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Why is analysis important?</a:t>
            </a:r>
            <a:endParaRPr/>
          </a:p>
        </p:txBody>
      </p:sp>
      <p:pic>
        <p:nvPicPr>
          <p:cNvPr id="132" name="Google Shape;132;p26"/>
          <p:cNvPicPr preferRelativeResize="0"/>
          <p:nvPr/>
        </p:nvPicPr>
        <p:blipFill>
          <a:blip r:embed="rId3">
            <a:alphaModFix/>
          </a:blip>
          <a:stretch>
            <a:fillRect/>
          </a:stretch>
        </p:blipFill>
        <p:spPr>
          <a:xfrm>
            <a:off x="2661513" y="1097050"/>
            <a:ext cx="3820975" cy="38209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37" name="Shape 137"/>
        <p:cNvGrpSpPr/>
        <p:nvPr/>
      </p:nvGrpSpPr>
      <p:grpSpPr>
        <a:xfrm>
          <a:off x="0" y="0"/>
          <a:ext cx="0" cy="0"/>
          <a:chOff x="0" y="0"/>
          <a:chExt cx="0" cy="0"/>
        </a:xfrm>
      </p:grpSpPr>
      <p:pic>
        <p:nvPicPr>
          <p:cNvPr id="138" name="Google Shape;138;p27"/>
          <p:cNvPicPr preferRelativeResize="0"/>
          <p:nvPr/>
        </p:nvPicPr>
        <p:blipFill rotWithShape="1">
          <a:blip r:embed="rId3">
            <a:alphaModFix/>
          </a:blip>
          <a:srcRect b="0" l="0" r="0" t="0"/>
          <a:stretch/>
        </p:blipFill>
        <p:spPr>
          <a:xfrm>
            <a:off x="6000367" y="2454350"/>
            <a:ext cx="2697321" cy="2299486"/>
          </a:xfrm>
          <a:prstGeom prst="rect">
            <a:avLst/>
          </a:prstGeom>
          <a:noFill/>
          <a:ln>
            <a:noFill/>
          </a:ln>
        </p:spPr>
      </p:pic>
      <p:pic>
        <p:nvPicPr>
          <p:cNvPr id="139" name="Google Shape;139;p27"/>
          <p:cNvPicPr preferRelativeResize="0"/>
          <p:nvPr/>
        </p:nvPicPr>
        <p:blipFill rotWithShape="1">
          <a:blip r:embed="rId4">
            <a:alphaModFix/>
          </a:blip>
          <a:srcRect b="0" l="0" r="0" t="0"/>
          <a:stretch/>
        </p:blipFill>
        <p:spPr>
          <a:xfrm>
            <a:off x="4632083" y="1138978"/>
            <a:ext cx="1526121" cy="2080321"/>
          </a:xfrm>
          <a:prstGeom prst="rect">
            <a:avLst/>
          </a:prstGeom>
          <a:noFill/>
          <a:ln>
            <a:noFill/>
          </a:ln>
        </p:spPr>
      </p:pic>
      <p:pic>
        <p:nvPicPr>
          <p:cNvPr id="140" name="Google Shape;140;p27"/>
          <p:cNvPicPr preferRelativeResize="0"/>
          <p:nvPr/>
        </p:nvPicPr>
        <p:blipFill rotWithShape="1">
          <a:blip r:embed="rId5">
            <a:alphaModFix/>
          </a:blip>
          <a:srcRect b="0" l="0" r="0" t="0"/>
          <a:stretch/>
        </p:blipFill>
        <p:spPr>
          <a:xfrm>
            <a:off x="349849" y="1138978"/>
            <a:ext cx="3054557" cy="3614860"/>
          </a:xfrm>
          <a:prstGeom prst="rect">
            <a:avLst/>
          </a:prstGeom>
          <a:noFill/>
          <a:ln>
            <a:noFill/>
          </a:ln>
        </p:spPr>
      </p:pic>
      <p:sp>
        <p:nvSpPr>
          <p:cNvPr id="141" name="Google Shape;141;p27"/>
          <p:cNvSpPr/>
          <p:nvPr/>
        </p:nvSpPr>
        <p:spPr>
          <a:xfrm>
            <a:off x="3624943" y="2228269"/>
            <a:ext cx="947100" cy="865200"/>
          </a:xfrm>
          <a:prstGeom prst="mathEqual">
            <a:avLst>
              <a:gd fmla="val 23520" name="adj1"/>
              <a:gd fmla="val 11760" name="adj2"/>
            </a:avLst>
          </a:prstGeom>
          <a:solidFill>
            <a:schemeClr val="accent1"/>
          </a:solidFill>
          <a:ln cap="flat" cmpd="sng" w="9525">
            <a:solidFill>
              <a:srgbClr val="1C3052"/>
            </a:solidFill>
            <a:prstDash val="solid"/>
            <a:miter lim="800000"/>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dk1"/>
              </a:solidFill>
              <a:latin typeface="Calibri"/>
              <a:ea typeface="Calibri"/>
              <a:cs typeface="Calibri"/>
              <a:sym typeface="Calibri"/>
            </a:endParaRPr>
          </a:p>
        </p:txBody>
      </p:sp>
      <p:sp>
        <p:nvSpPr>
          <p:cNvPr id="142" name="Google Shape;142;p27"/>
          <p:cNvSpPr txBox="1"/>
          <p:nvPr>
            <p:ph type="title"/>
          </p:nvPr>
        </p:nvSpPr>
        <p:spPr>
          <a:xfrm>
            <a:off x="311700" y="445025"/>
            <a:ext cx="8520600" cy="5727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Understanding Customer Habits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47" name="Shape 147"/>
        <p:cNvGrpSpPr/>
        <p:nvPr/>
      </p:nvGrpSpPr>
      <p:grpSpPr>
        <a:xfrm>
          <a:off x="0" y="0"/>
          <a:ext cx="0" cy="0"/>
          <a:chOff x="0" y="0"/>
          <a:chExt cx="0" cy="0"/>
        </a:xfrm>
      </p:grpSpPr>
      <p:sp>
        <p:nvSpPr>
          <p:cNvPr id="148" name="Google Shape;148;p28"/>
          <p:cNvSpPr txBox="1"/>
          <p:nvPr>
            <p:ph type="title"/>
          </p:nvPr>
        </p:nvSpPr>
        <p:spPr>
          <a:xfrm>
            <a:off x="311700" y="445025"/>
            <a:ext cx="8520600" cy="572700"/>
          </a:xfrm>
          <a:prstGeom prst="rect">
            <a:avLst/>
          </a:prstGeom>
        </p:spPr>
        <p:txBody>
          <a:bodyPr anchorCtr="0" anchor="ctr" bIns="34275" lIns="68575" spcFirstLastPara="1" rIns="68575" wrap="square" tIns="34275">
            <a:normAutofit/>
          </a:bodyPr>
          <a:lstStyle/>
          <a:p>
            <a:pPr indent="0" lvl="0" marL="0" rtl="0" algn="l">
              <a:spcBef>
                <a:spcPts val="0"/>
              </a:spcBef>
              <a:spcAft>
                <a:spcPts val="0"/>
              </a:spcAft>
              <a:buNone/>
            </a:pPr>
            <a:r>
              <a:rPr lang="en"/>
              <a:t>Understanding Customer Habits</a:t>
            </a:r>
            <a:endParaRPr/>
          </a:p>
        </p:txBody>
      </p:sp>
      <p:pic>
        <p:nvPicPr>
          <p:cNvPr id="149" name="Google Shape;149;p28"/>
          <p:cNvPicPr preferRelativeResize="0"/>
          <p:nvPr/>
        </p:nvPicPr>
        <p:blipFill>
          <a:blip r:embed="rId3">
            <a:alphaModFix/>
          </a:blip>
          <a:stretch>
            <a:fillRect/>
          </a:stretch>
        </p:blipFill>
        <p:spPr>
          <a:xfrm>
            <a:off x="748400" y="1170125"/>
            <a:ext cx="5542275" cy="2347100"/>
          </a:xfrm>
          <a:prstGeom prst="rect">
            <a:avLst/>
          </a:prstGeom>
          <a:noFill/>
          <a:ln>
            <a:noFill/>
          </a:ln>
        </p:spPr>
      </p:pic>
      <p:pic>
        <p:nvPicPr>
          <p:cNvPr id="150" name="Google Shape;150;p28"/>
          <p:cNvPicPr preferRelativeResize="0"/>
          <p:nvPr/>
        </p:nvPicPr>
        <p:blipFill>
          <a:blip r:embed="rId4">
            <a:alphaModFix/>
          </a:blip>
          <a:stretch>
            <a:fillRect/>
          </a:stretch>
        </p:blipFill>
        <p:spPr>
          <a:xfrm>
            <a:off x="3466425" y="3587150"/>
            <a:ext cx="4838700" cy="112395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54" name="Shape 154"/>
        <p:cNvGrpSpPr/>
        <p:nvPr/>
      </p:nvGrpSpPr>
      <p:grpSpPr>
        <a:xfrm>
          <a:off x="0" y="0"/>
          <a:ext cx="0" cy="0"/>
          <a:chOff x="0" y="0"/>
          <a:chExt cx="0" cy="0"/>
        </a:xfrm>
      </p:grpSpPr>
      <p:sp>
        <p:nvSpPr>
          <p:cNvPr id="155" name="Google Shape;155;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GenAI </a:t>
            </a:r>
            <a:r>
              <a:rPr lang="en"/>
              <a:t>Real-World Engineering Case Studies</a:t>
            </a:r>
            <a:endParaRPr/>
          </a:p>
        </p:txBody>
      </p:sp>
      <p:sp>
        <p:nvSpPr>
          <p:cNvPr id="156" name="Google Shape;156;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10000"/>
          </a:bodyPr>
          <a:lstStyle/>
          <a:p>
            <a:pPr indent="0" lvl="0" marL="0" rtl="0" algn="l">
              <a:spcBef>
                <a:spcPts val="0"/>
              </a:spcBef>
              <a:spcAft>
                <a:spcPts val="0"/>
              </a:spcAft>
              <a:buClr>
                <a:schemeClr val="dk1"/>
              </a:buClr>
              <a:buSzPct val="61111"/>
              <a:buFont typeface="Arial"/>
              <a:buNone/>
            </a:pPr>
            <a:r>
              <a:rPr b="1" lang="en"/>
              <a:t>1] DoorDash: High-Velocity Contact Center Automation</a:t>
            </a:r>
            <a:endParaRPr b="1"/>
          </a:p>
          <a:p>
            <a:pPr indent="0" lvl="0" marL="0" rtl="0" algn="l">
              <a:spcBef>
                <a:spcPts val="1200"/>
              </a:spcBef>
              <a:spcAft>
                <a:spcPts val="0"/>
              </a:spcAft>
              <a:buClr>
                <a:schemeClr val="dk1"/>
              </a:buClr>
              <a:buSzPct val="61111"/>
              <a:buFont typeface="Arial"/>
              <a:buNone/>
            </a:pPr>
            <a:r>
              <a:rPr lang="en"/>
              <a:t>DoorDash faced a massive challenge: handling hundreds of thousands of daily support calls from Dashers (drivers), consumers, and merchants. They turned to Generative AI not just to "chat," but to resolve issues.   </a:t>
            </a:r>
            <a:endParaRPr/>
          </a:p>
          <a:p>
            <a:pPr indent="0" lvl="0" marL="0" rtl="0" algn="l">
              <a:spcBef>
                <a:spcPts val="1200"/>
              </a:spcBef>
              <a:spcAft>
                <a:spcPts val="0"/>
              </a:spcAft>
              <a:buClr>
                <a:schemeClr val="dk1"/>
              </a:buClr>
              <a:buSzPct val="61111"/>
              <a:buFont typeface="Arial"/>
              <a:buNone/>
            </a:pPr>
            <a:r>
              <a:rPr lang="en"/>
              <a:t>The Latency Challenge: Drivers on the road are time-sensitive. A latency of 5-10 seconds for an LLM response is unacceptable. DoorDash utilized Amazon Bedrock and Anthropic’s Claude 3 Haiku—a smaller, faster model—to achieve response times under 2.5 seconds.   </a:t>
            </a:r>
            <a:endParaRPr/>
          </a:p>
          <a:p>
            <a:pPr indent="0" lvl="0" marL="0" rtl="0" algn="l">
              <a:spcBef>
                <a:spcPts val="1200"/>
              </a:spcBef>
              <a:spcAft>
                <a:spcPts val="1200"/>
              </a:spcAft>
              <a:buNone/>
            </a:pPr>
            <a:r>
              <a:rPr lang="en"/>
              <a:t>The Testing Moat: They didn't just deploy the model. They built a massive automated testing framework using Amazon SageMaker. This framework scaled their testing capacity by 50x, allowing them to run thousands of simulated conversations against "ground truth" data to ensure the model wasn't hallucinating policies before it ever spoke to a human.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60" name="Shape 160"/>
        <p:cNvGrpSpPr/>
        <p:nvPr/>
      </p:nvGrpSpPr>
      <p:grpSpPr>
        <a:xfrm>
          <a:off x="0" y="0"/>
          <a:ext cx="0" cy="0"/>
          <a:chOff x="0" y="0"/>
          <a:chExt cx="0" cy="0"/>
        </a:xfrm>
      </p:grpSpPr>
      <p:sp>
        <p:nvSpPr>
          <p:cNvPr id="161" name="Google Shape;161;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GenAI </a:t>
            </a:r>
            <a:r>
              <a:rPr lang="en"/>
              <a:t>Real-World Engineering Case Studies</a:t>
            </a:r>
            <a:endParaRPr/>
          </a:p>
        </p:txBody>
      </p:sp>
      <p:sp>
        <p:nvSpPr>
          <p:cNvPr id="162" name="Google Shape;162;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10000"/>
          </a:bodyPr>
          <a:lstStyle/>
          <a:p>
            <a:pPr indent="0" lvl="0" marL="0" rtl="0" algn="l">
              <a:spcBef>
                <a:spcPts val="0"/>
              </a:spcBef>
              <a:spcAft>
                <a:spcPts val="0"/>
              </a:spcAft>
              <a:buClr>
                <a:schemeClr val="dk1"/>
              </a:buClr>
              <a:buSzPct val="61111"/>
              <a:buFont typeface="Arial"/>
              <a:buNone/>
            </a:pPr>
            <a:r>
              <a:rPr b="1" lang="en"/>
              <a:t>2] Uber: From Predictive to Agentic</a:t>
            </a:r>
            <a:endParaRPr b="1"/>
          </a:p>
          <a:p>
            <a:pPr indent="0" lvl="0" marL="0" rtl="0" algn="l">
              <a:spcBef>
                <a:spcPts val="1200"/>
              </a:spcBef>
              <a:spcAft>
                <a:spcPts val="0"/>
              </a:spcAft>
              <a:buClr>
                <a:schemeClr val="dk1"/>
              </a:buClr>
              <a:buSzPct val="61111"/>
              <a:buFont typeface="Arial"/>
              <a:buNone/>
            </a:pPr>
            <a:r>
              <a:rPr lang="en"/>
              <a:t>Uber has long been a pioneer in predictive AI (ETA, pricing). In 2025, they are pivoting to Agentic AI.</a:t>
            </a:r>
            <a:endParaRPr/>
          </a:p>
          <a:p>
            <a:pPr indent="0" lvl="0" marL="0" rtl="0" algn="l">
              <a:spcBef>
                <a:spcPts val="1200"/>
              </a:spcBef>
              <a:spcAft>
                <a:spcPts val="0"/>
              </a:spcAft>
              <a:buClr>
                <a:schemeClr val="dk1"/>
              </a:buClr>
              <a:buSzPct val="61111"/>
              <a:buFont typeface="Arial"/>
              <a:buNone/>
            </a:pPr>
            <a:r>
              <a:rPr lang="en"/>
              <a:t>GenAI Gateway: Uber built a centralized gateway to manage LLM interactions, handling authentication, rate limiting, and cost attribution across the enterprise. This "middleware" layer is crucial for governance.   </a:t>
            </a:r>
            <a:endParaRPr/>
          </a:p>
          <a:p>
            <a:pPr indent="0" lvl="0" marL="0" rtl="0" algn="l">
              <a:spcBef>
                <a:spcPts val="1200"/>
              </a:spcBef>
              <a:spcAft>
                <a:spcPts val="1200"/>
              </a:spcAft>
              <a:buNone/>
            </a:pPr>
            <a:r>
              <a:rPr lang="en"/>
              <a:t>Agentic Workflows: Uber is moving beyond simple chatbots to systems that can plan and execute. Their vision for 2026 involves agents that can autonomously handle complex customer service resolutions, utilizing a "ReAct" (Reason + Act) loop to query internal databases, verify policy, and issue refunds without human intervention.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66" name="Shape 166"/>
        <p:cNvGrpSpPr/>
        <p:nvPr/>
      </p:nvGrpSpPr>
      <p:grpSpPr>
        <a:xfrm>
          <a:off x="0" y="0"/>
          <a:ext cx="0" cy="0"/>
          <a:chOff x="0" y="0"/>
          <a:chExt cx="0" cy="0"/>
        </a:xfrm>
      </p:grpSpPr>
      <p:sp>
        <p:nvSpPr>
          <p:cNvPr id="167" name="Google Shape;167;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GenAI </a:t>
            </a:r>
            <a:r>
              <a:rPr lang="en"/>
              <a:t>Real-World Engineering Case Studies</a:t>
            </a:r>
            <a:endParaRPr/>
          </a:p>
        </p:txBody>
      </p:sp>
      <p:sp>
        <p:nvSpPr>
          <p:cNvPr id="168" name="Google Shape;168;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Clr>
                <a:schemeClr val="dk1"/>
              </a:buClr>
              <a:buSzPts val="1100"/>
              <a:buFont typeface="Arial"/>
              <a:buNone/>
            </a:pPr>
            <a:r>
              <a:rPr b="1" lang="en"/>
              <a:t>3] Airbnb: Technical Debt Reduction</a:t>
            </a:r>
            <a:endParaRPr b="1"/>
          </a:p>
          <a:p>
            <a:pPr indent="0" lvl="0" marL="0" rtl="0" algn="l">
              <a:spcBef>
                <a:spcPts val="1200"/>
              </a:spcBef>
              <a:spcAft>
                <a:spcPts val="0"/>
              </a:spcAft>
              <a:buClr>
                <a:schemeClr val="dk1"/>
              </a:buClr>
              <a:buSzPts val="1100"/>
              <a:buFont typeface="Arial"/>
              <a:buNone/>
            </a:pPr>
            <a:r>
              <a:rPr lang="en"/>
              <a:t>Airbnb utilized GenAI to solve a massive software engineering headache: migrating thousands of test files from an outdated framework (Enzyme) to a modern one (React Testing Library).</a:t>
            </a:r>
            <a:endParaRPr/>
          </a:p>
          <a:p>
            <a:pPr indent="0" lvl="0" marL="0" rtl="0" algn="l">
              <a:spcBef>
                <a:spcPts val="1200"/>
              </a:spcBef>
              <a:spcAft>
                <a:spcPts val="0"/>
              </a:spcAft>
              <a:buClr>
                <a:schemeClr val="dk1"/>
              </a:buClr>
              <a:buSzPts val="1100"/>
              <a:buFont typeface="Arial"/>
              <a:buNone/>
            </a:pPr>
            <a:r>
              <a:rPr lang="en"/>
              <a:t>The Methodology: They didn't rely on simple prompts. They built an agentic workflow. The AI would generate the new test code, run it, capture any error messages, and retry the generation with the error context.</a:t>
            </a:r>
            <a:endParaRPr/>
          </a:p>
          <a:p>
            <a:pPr indent="0" lvl="0" marL="0" rtl="0" algn="l">
              <a:spcBef>
                <a:spcPts val="1200"/>
              </a:spcBef>
              <a:spcAft>
                <a:spcPts val="1200"/>
              </a:spcAft>
              <a:buNone/>
            </a:pPr>
            <a:r>
              <a:rPr lang="en"/>
              <a:t>The Result: This iterative feedback loop allowed them to migrate 3,500 files in just 6 weeks—a task that would have taken months of manual developer time. </a:t>
            </a:r>
            <a:r>
              <a:rPr lang="en"/>
              <a:t>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72" name="Shape 172"/>
        <p:cNvGrpSpPr/>
        <p:nvPr/>
      </p:nvGrpSpPr>
      <p:grpSpPr>
        <a:xfrm>
          <a:off x="0" y="0"/>
          <a:ext cx="0" cy="0"/>
          <a:chOff x="0" y="0"/>
          <a:chExt cx="0" cy="0"/>
        </a:xfrm>
      </p:grpSpPr>
      <p:sp>
        <p:nvSpPr>
          <p:cNvPr id="173" name="Google Shape;173;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Building the Perfect Portfolio: End-to-End Projects</a:t>
            </a:r>
            <a:endParaRPr/>
          </a:p>
        </p:txBody>
      </p:sp>
      <p:sp>
        <p:nvSpPr>
          <p:cNvPr id="174" name="Google Shape;174;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t>Production-Grade Churn Prediction</a:t>
            </a:r>
            <a:endParaRPr b="1"/>
          </a:p>
          <a:p>
            <a:pPr indent="0" lvl="0" marL="0" rtl="0" algn="l">
              <a:spcBef>
                <a:spcPts val="1200"/>
              </a:spcBef>
              <a:spcAft>
                <a:spcPts val="0"/>
              </a:spcAft>
              <a:buClr>
                <a:schemeClr val="dk1"/>
              </a:buClr>
              <a:buSzPts val="1100"/>
              <a:buFont typeface="Arial"/>
              <a:buNone/>
            </a:pPr>
            <a:r>
              <a:rPr lang="en" sz="1400"/>
              <a:t>Objective: Demonstrate MLOps, Business Value, and Cloud Engineering.Do not just call model.fit(). Build a pipeline.</a:t>
            </a:r>
            <a:endParaRPr sz="1400"/>
          </a:p>
          <a:p>
            <a:pPr indent="0" lvl="0" marL="0" rtl="0" algn="l">
              <a:spcBef>
                <a:spcPts val="1200"/>
              </a:spcBef>
              <a:spcAft>
                <a:spcPts val="1200"/>
              </a:spcAft>
              <a:buNone/>
            </a:pPr>
            <a:r>
              <a:t/>
            </a:r>
            <a:endParaRPr/>
          </a:p>
        </p:txBody>
      </p:sp>
      <p:graphicFrame>
        <p:nvGraphicFramePr>
          <p:cNvPr id="175" name="Google Shape;175;p32"/>
          <p:cNvGraphicFramePr/>
          <p:nvPr/>
        </p:nvGraphicFramePr>
        <p:xfrm>
          <a:off x="370125" y="2381250"/>
          <a:ext cx="3000000" cy="3000000"/>
        </p:xfrm>
        <a:graphic>
          <a:graphicData uri="http://schemas.openxmlformats.org/drawingml/2006/table">
            <a:tbl>
              <a:tblPr>
                <a:noFill/>
                <a:tableStyleId>{FF8CB20B-70C3-4B3C-88F2-60A80F792330}</a:tableStyleId>
              </a:tblPr>
              <a:tblGrid>
                <a:gridCol w="1192775"/>
                <a:gridCol w="1381900"/>
                <a:gridCol w="5518950"/>
              </a:tblGrid>
              <a:tr h="254200">
                <a:tc>
                  <a:txBody>
                    <a:bodyPr/>
                    <a:lstStyle/>
                    <a:p>
                      <a:pPr indent="0" lvl="0" marL="0" rtl="0" algn="l">
                        <a:lnSpc>
                          <a:spcPct val="115000"/>
                        </a:lnSpc>
                        <a:spcBef>
                          <a:spcPts val="0"/>
                        </a:spcBef>
                        <a:spcAft>
                          <a:spcPts val="800"/>
                        </a:spcAft>
                        <a:buNone/>
                      </a:pPr>
                      <a:r>
                        <a:rPr b="1" lang="en" sz="1050">
                          <a:solidFill>
                            <a:schemeClr val="dk1"/>
                          </a:solidFill>
                        </a:rPr>
                        <a:t>Stage</a:t>
                      </a:r>
                      <a:endParaRPr b="1" sz="1050">
                        <a:solidFill>
                          <a:schemeClr val="dk1"/>
                        </a:solidFill>
                      </a:endParaRPr>
                    </a:p>
                  </a:txBody>
                  <a:tcPr marT="47625" marB="47625" marR="95250" marL="95250">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800"/>
                        </a:spcAft>
                        <a:buNone/>
                      </a:pPr>
                      <a:r>
                        <a:rPr b="1" lang="en" sz="1050">
                          <a:solidFill>
                            <a:schemeClr val="dk1"/>
                          </a:solidFill>
                        </a:rPr>
                        <a:t>Component</a:t>
                      </a:r>
                      <a:endParaRPr b="1" sz="1050">
                        <a:solidFill>
                          <a:schemeClr val="dk1"/>
                        </a:solidFill>
                      </a:endParaRPr>
                    </a:p>
                  </a:txBody>
                  <a:tcPr marT="47625" marB="47625" marR="95250" marL="95250">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800"/>
                        </a:spcAft>
                        <a:buNone/>
                      </a:pPr>
                      <a:r>
                        <a:rPr b="1" lang="en" sz="1050">
                          <a:solidFill>
                            <a:schemeClr val="dk1"/>
                          </a:solidFill>
                        </a:rPr>
                        <a:t>Industry Standard Implementation</a:t>
                      </a:r>
                      <a:endParaRPr b="1" sz="1050">
                        <a:solidFill>
                          <a:schemeClr val="dk1"/>
                        </a:solidFill>
                      </a:endParaRPr>
                    </a:p>
                  </a:txBody>
                  <a:tcPr marT="47625" marB="47625" marR="95250" marL="95250">
                    <a:lnB cap="flat" cmpd="sng" w="9525">
                      <a:solidFill>
                        <a:srgbClr val="000000"/>
                      </a:solidFill>
                      <a:prstDash val="solid"/>
                      <a:round/>
                      <a:headEnd len="sm" w="sm" type="none"/>
                      <a:tailEnd len="sm" w="sm" type="none"/>
                    </a:lnB>
                  </a:tcPr>
                </a:tc>
              </a:tr>
              <a:tr h="254200">
                <a:tc>
                  <a:txBody>
                    <a:bodyPr/>
                    <a:lstStyle/>
                    <a:p>
                      <a:pPr indent="0" lvl="0" marL="0" rtl="0" algn="l">
                        <a:lnSpc>
                          <a:spcPct val="115000"/>
                        </a:lnSpc>
                        <a:spcBef>
                          <a:spcPts val="0"/>
                        </a:spcBef>
                        <a:spcAft>
                          <a:spcPts val="800"/>
                        </a:spcAft>
                        <a:buNone/>
                      </a:pPr>
                      <a:r>
                        <a:rPr lang="en" sz="1050">
                          <a:solidFill>
                            <a:schemeClr val="dk1"/>
                          </a:solidFill>
                        </a:rPr>
                        <a:t>Ingestion</a:t>
                      </a:r>
                      <a:endParaRPr sz="1050">
                        <a:solidFill>
                          <a:schemeClr val="dk1"/>
                        </a:solidFill>
                      </a:endParaRPr>
                    </a:p>
                  </a:txBody>
                  <a:tcPr marT="47625" marB="47625" marR="95250" marL="9525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800"/>
                        </a:spcAft>
                        <a:buNone/>
                      </a:pPr>
                      <a:r>
                        <a:rPr lang="en" sz="1050">
                          <a:solidFill>
                            <a:schemeClr val="dk1"/>
                          </a:solidFill>
                        </a:rPr>
                        <a:t>Airflow</a:t>
                      </a:r>
                      <a:endParaRPr sz="1050">
                        <a:solidFill>
                          <a:schemeClr val="dk1"/>
                        </a:solidFill>
                      </a:endParaRPr>
                    </a:p>
                  </a:txBody>
                  <a:tcPr marT="47625" marB="47625" marR="95250" marL="9525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800"/>
                        </a:spcAft>
                        <a:buNone/>
                      </a:pPr>
                      <a:r>
                        <a:rPr lang="en" sz="1050">
                          <a:solidFill>
                            <a:schemeClr val="dk1"/>
                          </a:solidFill>
                        </a:rPr>
                        <a:t>Scheduled DAGs to pull data from a Data Warehouse</a:t>
                      </a:r>
                      <a:endParaRPr sz="1050">
                        <a:solidFill>
                          <a:schemeClr val="dk1"/>
                        </a:solidFill>
                      </a:endParaRPr>
                    </a:p>
                  </a:txBody>
                  <a:tcPr marT="47625" marB="47625" marR="95250" marL="9525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60700">
                <a:tc>
                  <a:txBody>
                    <a:bodyPr/>
                    <a:lstStyle/>
                    <a:p>
                      <a:pPr indent="0" lvl="0" marL="0" rtl="0" algn="l">
                        <a:lnSpc>
                          <a:spcPct val="115000"/>
                        </a:lnSpc>
                        <a:spcBef>
                          <a:spcPts val="0"/>
                        </a:spcBef>
                        <a:spcAft>
                          <a:spcPts val="800"/>
                        </a:spcAft>
                        <a:buNone/>
                      </a:pPr>
                      <a:r>
                        <a:rPr lang="en" sz="1050">
                          <a:solidFill>
                            <a:schemeClr val="dk1"/>
                          </a:solidFill>
                        </a:rPr>
                        <a:t>Featurization</a:t>
                      </a:r>
                      <a:endParaRPr sz="1050">
                        <a:solidFill>
                          <a:schemeClr val="dk1"/>
                        </a:solidFill>
                      </a:endParaRPr>
                    </a:p>
                  </a:txBody>
                  <a:tcPr marT="47625" marB="47625" marR="95250" marL="9525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800"/>
                        </a:spcAft>
                        <a:buNone/>
                      </a:pPr>
                      <a:r>
                        <a:rPr lang="en" sz="1050">
                          <a:solidFill>
                            <a:schemeClr val="dk1"/>
                          </a:solidFill>
                        </a:rPr>
                        <a:t>Feature Store</a:t>
                      </a:r>
                      <a:endParaRPr sz="1050">
                        <a:solidFill>
                          <a:schemeClr val="dk1"/>
                        </a:solidFill>
                      </a:endParaRPr>
                    </a:p>
                  </a:txBody>
                  <a:tcPr marT="47625" marB="47625" marR="95250" marL="9525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800"/>
                        </a:spcAft>
                        <a:buNone/>
                      </a:pPr>
                      <a:r>
                        <a:rPr lang="en" sz="1050">
                          <a:solidFill>
                            <a:schemeClr val="dk1"/>
                          </a:solidFill>
                        </a:rPr>
                        <a:t>Use Feature Store to serve consistent features for training and inference.</a:t>
                      </a:r>
                      <a:endParaRPr sz="1050">
                        <a:solidFill>
                          <a:schemeClr val="dk1"/>
                        </a:solidFill>
                      </a:endParaRPr>
                    </a:p>
                  </a:txBody>
                  <a:tcPr marT="47625" marB="47625" marR="95250" marL="9525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60700">
                <a:tc>
                  <a:txBody>
                    <a:bodyPr/>
                    <a:lstStyle/>
                    <a:p>
                      <a:pPr indent="0" lvl="0" marL="0" rtl="0" algn="l">
                        <a:lnSpc>
                          <a:spcPct val="115000"/>
                        </a:lnSpc>
                        <a:spcBef>
                          <a:spcPts val="0"/>
                        </a:spcBef>
                        <a:spcAft>
                          <a:spcPts val="800"/>
                        </a:spcAft>
                        <a:buNone/>
                      </a:pPr>
                      <a:r>
                        <a:rPr lang="en" sz="1050">
                          <a:solidFill>
                            <a:schemeClr val="dk1"/>
                          </a:solidFill>
                        </a:rPr>
                        <a:t>Modeling</a:t>
                      </a:r>
                      <a:endParaRPr sz="1050">
                        <a:solidFill>
                          <a:schemeClr val="dk1"/>
                        </a:solidFill>
                      </a:endParaRPr>
                    </a:p>
                  </a:txBody>
                  <a:tcPr marT="47625" marB="47625" marR="95250" marL="9525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800"/>
                        </a:spcAft>
                        <a:buNone/>
                      </a:pPr>
                      <a:r>
                        <a:rPr lang="en" sz="1050">
                          <a:solidFill>
                            <a:schemeClr val="dk1"/>
                          </a:solidFill>
                        </a:rPr>
                        <a:t>XGBoost</a:t>
                      </a:r>
                      <a:endParaRPr sz="1050">
                        <a:solidFill>
                          <a:schemeClr val="dk1"/>
                        </a:solidFill>
                      </a:endParaRPr>
                    </a:p>
                  </a:txBody>
                  <a:tcPr marT="47625" marB="47625" marR="95250" marL="9525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800"/>
                        </a:spcAft>
                        <a:buNone/>
                      </a:pPr>
                      <a:r>
                        <a:rPr lang="en" sz="1050">
                          <a:solidFill>
                            <a:schemeClr val="dk1"/>
                          </a:solidFill>
                        </a:rPr>
                        <a:t>The gold standard for tabular data. Use Optuna for hyperparameter tuning.</a:t>
                      </a:r>
                      <a:endParaRPr sz="1050">
                        <a:solidFill>
                          <a:schemeClr val="dk1"/>
                        </a:solidFill>
                      </a:endParaRPr>
                    </a:p>
                  </a:txBody>
                  <a:tcPr marT="47625" marB="47625" marR="95250" marL="9525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60700">
                <a:tc>
                  <a:txBody>
                    <a:bodyPr/>
                    <a:lstStyle/>
                    <a:p>
                      <a:pPr indent="0" lvl="0" marL="0" rtl="0" algn="l">
                        <a:lnSpc>
                          <a:spcPct val="115000"/>
                        </a:lnSpc>
                        <a:spcBef>
                          <a:spcPts val="0"/>
                        </a:spcBef>
                        <a:spcAft>
                          <a:spcPts val="800"/>
                        </a:spcAft>
                        <a:buNone/>
                      </a:pPr>
                      <a:r>
                        <a:rPr lang="en" sz="1050">
                          <a:solidFill>
                            <a:schemeClr val="dk1"/>
                          </a:solidFill>
                        </a:rPr>
                        <a:t>Tracking</a:t>
                      </a:r>
                      <a:endParaRPr sz="1050">
                        <a:solidFill>
                          <a:schemeClr val="dk1"/>
                        </a:solidFill>
                      </a:endParaRPr>
                    </a:p>
                  </a:txBody>
                  <a:tcPr marT="47625" marB="47625" marR="95250" marL="9525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800"/>
                        </a:spcAft>
                        <a:buNone/>
                      </a:pPr>
                      <a:r>
                        <a:rPr lang="en" sz="1050">
                          <a:solidFill>
                            <a:schemeClr val="dk1"/>
                          </a:solidFill>
                        </a:rPr>
                        <a:t>MLflow</a:t>
                      </a:r>
                      <a:endParaRPr sz="1050">
                        <a:solidFill>
                          <a:schemeClr val="dk1"/>
                        </a:solidFill>
                      </a:endParaRPr>
                    </a:p>
                  </a:txBody>
                  <a:tcPr marT="47625" marB="47625" marR="95250" marL="9525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800"/>
                        </a:spcAft>
                        <a:buNone/>
                      </a:pPr>
                      <a:r>
                        <a:rPr lang="en" sz="1050">
                          <a:solidFill>
                            <a:schemeClr val="dk1"/>
                          </a:solidFill>
                        </a:rPr>
                        <a:t>Log every experiment, parameter, and metric. This creates auditability.</a:t>
                      </a:r>
                      <a:endParaRPr sz="1050">
                        <a:solidFill>
                          <a:schemeClr val="dk1"/>
                        </a:solidFill>
                      </a:endParaRPr>
                    </a:p>
                  </a:txBody>
                  <a:tcPr marT="47625" marB="47625" marR="95250" marL="9525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254200">
                <a:tc>
                  <a:txBody>
                    <a:bodyPr/>
                    <a:lstStyle/>
                    <a:p>
                      <a:pPr indent="0" lvl="0" marL="0" rtl="0" algn="l">
                        <a:lnSpc>
                          <a:spcPct val="115000"/>
                        </a:lnSpc>
                        <a:spcBef>
                          <a:spcPts val="0"/>
                        </a:spcBef>
                        <a:spcAft>
                          <a:spcPts val="800"/>
                        </a:spcAft>
                        <a:buNone/>
                      </a:pPr>
                      <a:r>
                        <a:rPr lang="en" sz="1050">
                          <a:solidFill>
                            <a:schemeClr val="dk1"/>
                          </a:solidFill>
                        </a:rPr>
                        <a:t>Serving</a:t>
                      </a:r>
                      <a:endParaRPr sz="1050">
                        <a:solidFill>
                          <a:schemeClr val="dk1"/>
                        </a:solidFill>
                      </a:endParaRPr>
                    </a:p>
                  </a:txBody>
                  <a:tcPr marT="47625" marB="47625" marR="95250" marL="9525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800"/>
                        </a:spcAft>
                        <a:buNone/>
                      </a:pPr>
                      <a:r>
                        <a:rPr lang="en" sz="1050">
                          <a:solidFill>
                            <a:schemeClr val="dk1"/>
                          </a:solidFill>
                        </a:rPr>
                        <a:t>FastAPI + Docker</a:t>
                      </a:r>
                      <a:endParaRPr sz="1050">
                        <a:solidFill>
                          <a:schemeClr val="dk1"/>
                        </a:solidFill>
                      </a:endParaRPr>
                    </a:p>
                  </a:txBody>
                  <a:tcPr marT="47625" marB="47625" marR="95250" marL="9525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800"/>
                        </a:spcAft>
                        <a:buNone/>
                      </a:pPr>
                      <a:r>
                        <a:rPr lang="en" sz="1050">
                          <a:solidFill>
                            <a:schemeClr val="dk1"/>
                          </a:solidFill>
                        </a:rPr>
                        <a:t>Wrap the model in a REST API, containerize it.</a:t>
                      </a:r>
                      <a:endParaRPr sz="1050">
                        <a:solidFill>
                          <a:schemeClr val="dk1"/>
                        </a:solidFill>
                      </a:endParaRPr>
                    </a:p>
                  </a:txBody>
                  <a:tcPr marT="47625" marB="47625" marR="95250" marL="9525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60700">
                <a:tc>
                  <a:txBody>
                    <a:bodyPr/>
                    <a:lstStyle/>
                    <a:p>
                      <a:pPr indent="0" lvl="0" marL="0" rtl="0" algn="l">
                        <a:lnSpc>
                          <a:spcPct val="115000"/>
                        </a:lnSpc>
                        <a:spcBef>
                          <a:spcPts val="0"/>
                        </a:spcBef>
                        <a:spcAft>
                          <a:spcPts val="800"/>
                        </a:spcAft>
                        <a:buNone/>
                      </a:pPr>
                      <a:r>
                        <a:rPr lang="en" sz="1050">
                          <a:solidFill>
                            <a:schemeClr val="dk1"/>
                          </a:solidFill>
                        </a:rPr>
                        <a:t>Monitoring</a:t>
                      </a:r>
                      <a:endParaRPr sz="1050">
                        <a:solidFill>
                          <a:schemeClr val="dk1"/>
                        </a:solidFill>
                      </a:endParaRPr>
                    </a:p>
                  </a:txBody>
                  <a:tcPr marT="47625" marB="47625" marR="95250" marL="9525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800"/>
                        </a:spcAft>
                        <a:buNone/>
                      </a:pPr>
                      <a:r>
                        <a:rPr lang="en" sz="1050">
                          <a:solidFill>
                            <a:schemeClr val="dk1"/>
                          </a:solidFill>
                        </a:rPr>
                        <a:t>Evidently AI</a:t>
                      </a:r>
                      <a:endParaRPr sz="1050">
                        <a:solidFill>
                          <a:schemeClr val="dk1"/>
                        </a:solidFill>
                      </a:endParaRPr>
                    </a:p>
                  </a:txBody>
                  <a:tcPr marT="47625" marB="47625" marR="95250" marL="9525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lnSpc>
                          <a:spcPct val="115000"/>
                        </a:lnSpc>
                        <a:spcBef>
                          <a:spcPts val="0"/>
                        </a:spcBef>
                        <a:spcAft>
                          <a:spcPts val="800"/>
                        </a:spcAft>
                        <a:buNone/>
                      </a:pPr>
                      <a:r>
                        <a:rPr lang="en" sz="1050">
                          <a:solidFill>
                            <a:schemeClr val="dk1"/>
                          </a:solidFill>
                        </a:rPr>
                        <a:t>Crucial: Monitor for Data Drift. If the input data changes, trigger a retraining pipeline.</a:t>
                      </a:r>
                      <a:endParaRPr sz="1050">
                        <a:solidFill>
                          <a:schemeClr val="dk1"/>
                        </a:solidFill>
                      </a:endParaRPr>
                    </a:p>
                  </a:txBody>
                  <a:tcPr marT="47625" marB="47625" marR="95250" marL="95250">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60700">
                <a:tc>
                  <a:txBody>
                    <a:bodyPr/>
                    <a:lstStyle/>
                    <a:p>
                      <a:pPr indent="0" lvl="0" marL="0" rtl="0" algn="l">
                        <a:lnSpc>
                          <a:spcPct val="115000"/>
                        </a:lnSpc>
                        <a:spcBef>
                          <a:spcPts val="0"/>
                        </a:spcBef>
                        <a:spcAft>
                          <a:spcPts val="800"/>
                        </a:spcAft>
                        <a:buNone/>
                      </a:pPr>
                      <a:r>
                        <a:rPr lang="en" sz="1050">
                          <a:solidFill>
                            <a:schemeClr val="dk1"/>
                          </a:solidFill>
                        </a:rPr>
                        <a:t>Business Value</a:t>
                      </a:r>
                      <a:endParaRPr sz="1050">
                        <a:solidFill>
                          <a:schemeClr val="dk1"/>
                        </a:solidFill>
                      </a:endParaRPr>
                    </a:p>
                  </a:txBody>
                  <a:tcPr marT="47625" marB="47625" marR="95250" marL="95250">
                    <a:lnT cap="flat" cmpd="sng" w="9525">
                      <a:solidFill>
                        <a:srgbClr val="000000"/>
                      </a:solidFill>
                      <a:prstDash val="solid"/>
                      <a:round/>
                      <a:headEnd len="sm" w="sm" type="none"/>
                      <a:tailEnd len="sm" w="sm" type="none"/>
                    </a:lnT>
                  </a:tcPr>
                </a:tc>
                <a:tc>
                  <a:txBody>
                    <a:bodyPr/>
                    <a:lstStyle/>
                    <a:p>
                      <a:pPr indent="0" lvl="0" marL="0" rtl="0" algn="l">
                        <a:lnSpc>
                          <a:spcPct val="115000"/>
                        </a:lnSpc>
                        <a:spcBef>
                          <a:spcPts val="0"/>
                        </a:spcBef>
                        <a:spcAft>
                          <a:spcPts val="800"/>
                        </a:spcAft>
                        <a:buNone/>
                      </a:pPr>
                      <a:r>
                        <a:rPr lang="en" sz="1050">
                          <a:solidFill>
                            <a:schemeClr val="dk1"/>
                          </a:solidFill>
                        </a:rPr>
                        <a:t>Dashboard</a:t>
                      </a:r>
                      <a:endParaRPr sz="1050">
                        <a:solidFill>
                          <a:schemeClr val="dk1"/>
                        </a:solidFill>
                      </a:endParaRPr>
                    </a:p>
                  </a:txBody>
                  <a:tcPr marT="47625" marB="47625" marR="95250" marL="95250">
                    <a:lnT cap="flat" cmpd="sng" w="9525">
                      <a:solidFill>
                        <a:srgbClr val="000000"/>
                      </a:solidFill>
                      <a:prstDash val="solid"/>
                      <a:round/>
                      <a:headEnd len="sm" w="sm" type="none"/>
                      <a:tailEnd len="sm" w="sm" type="none"/>
                    </a:lnT>
                  </a:tcPr>
                </a:tc>
                <a:tc>
                  <a:txBody>
                    <a:bodyPr/>
                    <a:lstStyle/>
                    <a:p>
                      <a:pPr indent="0" lvl="0" marL="0" rtl="0" algn="l">
                        <a:lnSpc>
                          <a:spcPct val="115000"/>
                        </a:lnSpc>
                        <a:spcBef>
                          <a:spcPts val="0"/>
                        </a:spcBef>
                        <a:spcAft>
                          <a:spcPts val="800"/>
                        </a:spcAft>
                        <a:buNone/>
                      </a:pPr>
                      <a:r>
                        <a:rPr lang="en" sz="1050">
                          <a:solidFill>
                            <a:schemeClr val="dk1"/>
                          </a:solidFill>
                        </a:rPr>
                        <a:t>Create a dashboard showing not just "Accuracy," but "Projected Revenue Saved".</a:t>
                      </a:r>
                      <a:endParaRPr sz="1050">
                        <a:solidFill>
                          <a:schemeClr val="dk1"/>
                        </a:solidFill>
                      </a:endParaRPr>
                    </a:p>
                  </a:txBody>
                  <a:tcPr marT="47625" marB="47625" marR="95250" marL="95250">
                    <a:lnT cap="flat" cmpd="sng" w="9525">
                      <a:solidFill>
                        <a:srgbClr val="000000"/>
                      </a:solidFill>
                      <a:prstDash val="solid"/>
                      <a:round/>
                      <a:headEnd len="sm" w="sm" type="none"/>
                      <a:tailEnd len="sm" w="sm" type="none"/>
                    </a:lnT>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79" name="Shape 179"/>
        <p:cNvGrpSpPr/>
        <p:nvPr/>
      </p:nvGrpSpPr>
      <p:grpSpPr>
        <a:xfrm>
          <a:off x="0" y="0"/>
          <a:ext cx="0" cy="0"/>
          <a:chOff x="0" y="0"/>
          <a:chExt cx="0" cy="0"/>
        </a:xfrm>
      </p:grpSpPr>
      <p:sp>
        <p:nvSpPr>
          <p:cNvPr id="180" name="Google Shape;180;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Building the Perfect Portfolio: End-to-End Projects</a:t>
            </a:r>
            <a:endParaRPr/>
          </a:p>
        </p:txBody>
      </p:sp>
      <p:sp>
        <p:nvSpPr>
          <p:cNvPr id="181" name="Google Shape;181;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en"/>
              <a:t>Enterprise RAG System</a:t>
            </a:r>
            <a:endParaRPr b="1"/>
          </a:p>
          <a:p>
            <a:pPr indent="0" lvl="0" marL="0" rtl="0" algn="l">
              <a:spcBef>
                <a:spcPts val="1200"/>
              </a:spcBef>
              <a:spcAft>
                <a:spcPts val="0"/>
              </a:spcAft>
              <a:buClr>
                <a:schemeClr val="dk1"/>
              </a:buClr>
              <a:buSzPct val="78571"/>
              <a:buFont typeface="Arial"/>
              <a:buNone/>
            </a:pPr>
            <a:r>
              <a:rPr lang="en" sz="1400"/>
              <a:t>Objective: Demonstrate GenAI Engineering and Retrieval Systems.</a:t>
            </a:r>
            <a:endParaRPr sz="1400"/>
          </a:p>
          <a:p>
            <a:pPr indent="0" lvl="0" marL="0" rtl="0" algn="l">
              <a:spcBef>
                <a:spcPts val="1200"/>
              </a:spcBef>
              <a:spcAft>
                <a:spcPts val="0"/>
              </a:spcAft>
              <a:buClr>
                <a:schemeClr val="dk1"/>
              </a:buClr>
              <a:buSzPct val="78571"/>
              <a:buFont typeface="Arial"/>
              <a:buNone/>
            </a:pPr>
            <a:r>
              <a:rPr lang="en" sz="1400"/>
              <a:t>Building a chatbot that talks to a PDF is a toy project. Building a secure Knowledge Base is a resume-maker.</a:t>
            </a:r>
            <a:endParaRPr sz="1400"/>
          </a:p>
          <a:p>
            <a:pPr indent="0" lvl="0" marL="0" rtl="0" algn="l">
              <a:spcBef>
                <a:spcPts val="1200"/>
              </a:spcBef>
              <a:spcAft>
                <a:spcPts val="0"/>
              </a:spcAft>
              <a:buClr>
                <a:schemeClr val="dk1"/>
              </a:buClr>
              <a:buSzPct val="78571"/>
              <a:buFont typeface="Arial"/>
              <a:buNone/>
            </a:pPr>
            <a:r>
              <a:rPr lang="en" sz="1400"/>
              <a:t>Ingestion Pipeline: Build ETL scripts to scrape documentation</a:t>
            </a:r>
            <a:endParaRPr sz="1400"/>
          </a:p>
          <a:p>
            <a:pPr indent="0" lvl="0" marL="0" rtl="0" algn="l">
              <a:spcBef>
                <a:spcPts val="1200"/>
              </a:spcBef>
              <a:spcAft>
                <a:spcPts val="0"/>
              </a:spcAft>
              <a:buClr>
                <a:schemeClr val="dk1"/>
              </a:buClr>
              <a:buSzPct val="78571"/>
              <a:buFont typeface="Arial"/>
              <a:buNone/>
            </a:pPr>
            <a:r>
              <a:rPr lang="en" sz="1400"/>
              <a:t>Chunking Strategy: Use advanced strategies (e.g. "Semantic Chunking" or "Parent-Child Chunking") to preserve context, rather than simple character splitting.   </a:t>
            </a:r>
            <a:endParaRPr sz="1400"/>
          </a:p>
          <a:p>
            <a:pPr indent="0" lvl="0" marL="0" rtl="0" algn="l">
              <a:spcBef>
                <a:spcPts val="1200"/>
              </a:spcBef>
              <a:spcAft>
                <a:spcPts val="0"/>
              </a:spcAft>
              <a:buClr>
                <a:schemeClr val="dk1"/>
              </a:buClr>
              <a:buSzPct val="78571"/>
              <a:buFont typeface="Arial"/>
              <a:buNone/>
            </a:pPr>
            <a:r>
              <a:rPr lang="en" sz="1400"/>
              <a:t>Vector Database: Implement vector database with Metadata Filtering. (e.g., "Only search documents from the 'Engineering' department").   </a:t>
            </a:r>
            <a:endParaRPr sz="1400"/>
          </a:p>
          <a:p>
            <a:pPr indent="0" lvl="0" marL="0" rtl="0" algn="l">
              <a:spcBef>
                <a:spcPts val="1200"/>
              </a:spcBef>
              <a:spcAft>
                <a:spcPts val="0"/>
              </a:spcAft>
              <a:buClr>
                <a:schemeClr val="dk1"/>
              </a:buClr>
              <a:buSzPct val="78571"/>
              <a:buFont typeface="Arial"/>
              <a:buNone/>
            </a:pPr>
            <a:r>
              <a:rPr lang="en" sz="1400"/>
              <a:t>Retrieval Logic: Implement Hybrid Search (Keyword + Vector) and Re-ranking to maximize relevance.   </a:t>
            </a:r>
            <a:endParaRPr sz="1400"/>
          </a:p>
          <a:p>
            <a:pPr indent="0" lvl="0" marL="0" rtl="0" algn="l">
              <a:spcBef>
                <a:spcPts val="1200"/>
              </a:spcBef>
              <a:spcAft>
                <a:spcPts val="1200"/>
              </a:spcAft>
              <a:buNone/>
            </a:pPr>
            <a:r>
              <a:rPr lang="en" sz="1400"/>
              <a:t>Evaluation: Implement "LLM-as-a-Judge" (using frameworks like RAGAS) to automatically score the quality of answers to improve reliability.</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85" name="Shape 185"/>
        <p:cNvGrpSpPr/>
        <p:nvPr/>
      </p:nvGrpSpPr>
      <p:grpSpPr>
        <a:xfrm>
          <a:off x="0" y="0"/>
          <a:ext cx="0" cy="0"/>
          <a:chOff x="0" y="0"/>
          <a:chExt cx="0" cy="0"/>
        </a:xfrm>
      </p:grpSpPr>
      <p:sp>
        <p:nvSpPr>
          <p:cNvPr id="186" name="Google Shape;186;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Building the Perfect Portfolio: End-to-End Projects</a:t>
            </a:r>
            <a:endParaRPr/>
          </a:p>
        </p:txBody>
      </p:sp>
      <p:sp>
        <p:nvSpPr>
          <p:cNvPr id="187" name="Google Shape;187;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
              <a:t>The "Platform" Project</a:t>
            </a:r>
            <a:endParaRPr b="1"/>
          </a:p>
          <a:p>
            <a:pPr indent="0" lvl="0" marL="0" rtl="0" algn="l">
              <a:spcBef>
                <a:spcPts val="1200"/>
              </a:spcBef>
              <a:spcAft>
                <a:spcPts val="0"/>
              </a:spcAft>
              <a:buClr>
                <a:schemeClr val="dk1"/>
              </a:buClr>
              <a:buSzPts val="1100"/>
              <a:buFont typeface="Arial"/>
              <a:buNone/>
            </a:pPr>
            <a:r>
              <a:rPr lang="en" sz="1400"/>
              <a:t>Objective: Demonstrate Infrastructure and DevOps skills.</a:t>
            </a:r>
            <a:endParaRPr sz="1400"/>
          </a:p>
          <a:p>
            <a:pPr indent="0" lvl="0" marL="0" rtl="0" algn="l">
              <a:spcBef>
                <a:spcPts val="1200"/>
              </a:spcBef>
              <a:spcAft>
                <a:spcPts val="0"/>
              </a:spcAft>
              <a:buClr>
                <a:schemeClr val="dk1"/>
              </a:buClr>
              <a:buSzPts val="1100"/>
              <a:buFont typeface="Arial"/>
              <a:buNone/>
            </a:pPr>
            <a:r>
              <a:rPr lang="en" sz="1400"/>
              <a:t>Focus purely on the plumbing. Build a CI/CD pipeline for ML.</a:t>
            </a:r>
            <a:endParaRPr sz="1400"/>
          </a:p>
          <a:p>
            <a:pPr indent="0" lvl="0" marL="0" rtl="0" algn="l">
              <a:spcBef>
                <a:spcPts val="1200"/>
              </a:spcBef>
              <a:spcAft>
                <a:spcPts val="0"/>
              </a:spcAft>
              <a:buClr>
                <a:schemeClr val="dk1"/>
              </a:buClr>
              <a:buSzPts val="1100"/>
              <a:buFont typeface="Arial"/>
              <a:buNone/>
            </a:pPr>
            <a:r>
              <a:rPr lang="en" sz="1400"/>
              <a:t>Trigger: A git commit to the main branch.</a:t>
            </a:r>
            <a:endParaRPr sz="1400"/>
          </a:p>
          <a:p>
            <a:pPr indent="0" lvl="0" marL="0" rtl="0" algn="l">
              <a:spcBef>
                <a:spcPts val="1200"/>
              </a:spcBef>
              <a:spcAft>
                <a:spcPts val="0"/>
              </a:spcAft>
              <a:buClr>
                <a:schemeClr val="dk1"/>
              </a:buClr>
              <a:buSzPts val="1100"/>
              <a:buFont typeface="Arial"/>
              <a:buNone/>
            </a:pPr>
            <a:r>
              <a:rPr lang="en" sz="1400"/>
              <a:t>Action: GitHub Actions triggers a training job.</a:t>
            </a:r>
            <a:endParaRPr sz="1400"/>
          </a:p>
          <a:p>
            <a:pPr indent="0" lvl="0" marL="0" rtl="0" algn="l">
              <a:spcBef>
                <a:spcPts val="1200"/>
              </a:spcBef>
              <a:spcAft>
                <a:spcPts val="0"/>
              </a:spcAft>
              <a:buClr>
                <a:schemeClr val="dk1"/>
              </a:buClr>
              <a:buSzPts val="1100"/>
              <a:buFont typeface="Arial"/>
              <a:buNone/>
            </a:pPr>
            <a:r>
              <a:rPr lang="en" sz="1400"/>
              <a:t>Gating: The pipeline compares the new model's performance against the current production model.</a:t>
            </a:r>
            <a:endParaRPr sz="1400"/>
          </a:p>
          <a:p>
            <a:pPr indent="0" lvl="0" marL="0" rtl="0" algn="l">
              <a:spcBef>
                <a:spcPts val="1200"/>
              </a:spcBef>
              <a:spcAft>
                <a:spcPts val="0"/>
              </a:spcAft>
              <a:buClr>
                <a:schemeClr val="dk1"/>
              </a:buClr>
              <a:buSzPts val="1100"/>
              <a:buFont typeface="Arial"/>
              <a:buNone/>
            </a:pPr>
            <a:r>
              <a:rPr lang="en" sz="1400"/>
              <a:t>Deployment: If the new model is better, it is automatically deployed to a shadow endpoint.</a:t>
            </a:r>
            <a:endParaRPr sz="1400"/>
          </a:p>
          <a:p>
            <a:pPr indent="0" lvl="0" marL="0" rtl="0" algn="l">
              <a:spcBef>
                <a:spcPts val="1200"/>
              </a:spcBef>
              <a:spcAft>
                <a:spcPts val="1200"/>
              </a:spcAft>
              <a:buNone/>
            </a:pPr>
            <a:r>
              <a:rPr lang="en" sz="1400"/>
              <a:t>This demonstrates a deep understanding of the software development lifecycle (SDLC) applied to ML.</a:t>
            </a:r>
            <a:endParaRPr sz="14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2"/>
        </a:solidFill>
      </p:bgPr>
    </p:bg>
    <p:spTree>
      <p:nvGrpSpPr>
        <p:cNvPr id="191" name="Shape 191"/>
        <p:cNvGrpSpPr/>
        <p:nvPr/>
      </p:nvGrpSpPr>
      <p:grpSpPr>
        <a:xfrm>
          <a:off x="0" y="0"/>
          <a:ext cx="0" cy="0"/>
          <a:chOff x="0" y="0"/>
          <a:chExt cx="0" cy="0"/>
        </a:xfrm>
      </p:grpSpPr>
      <p:sp>
        <p:nvSpPr>
          <p:cNvPr id="192" name="Google Shape;192;p35"/>
          <p:cNvSpPr txBox="1"/>
          <p:nvPr>
            <p:ph type="title"/>
          </p:nvPr>
        </p:nvSpPr>
        <p:spPr>
          <a:xfrm>
            <a:off x="3175650" y="2234550"/>
            <a:ext cx="2792700" cy="674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sz="3820"/>
              <a:t>Thank You</a:t>
            </a:r>
            <a:r>
              <a:rPr lang="en" sz="3820"/>
              <a:t>!</a:t>
            </a:r>
            <a:endParaRPr sz="3820"/>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