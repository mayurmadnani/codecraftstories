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16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334" r:id="rId3"/>
    <p:sldId id="347" r:id="rId4"/>
    <p:sldId id="348" r:id="rId5"/>
    <p:sldId id="354" r:id="rId6"/>
    <p:sldId id="349" r:id="rId7"/>
    <p:sldId id="350" r:id="rId8"/>
    <p:sldId id="260" r:id="rId9"/>
    <p:sldId id="355" r:id="rId10"/>
    <p:sldId id="352" r:id="rId11"/>
    <p:sldId id="356" r:id="rId12"/>
    <p:sldId id="351" r:id="rId13"/>
    <p:sldId id="353" r:id="rId14"/>
    <p:sldId id="345" r:id="rId15"/>
    <p:sldId id="267" r:id="rId16"/>
    <p:sldId id="33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BA61E-B079-4B54-8845-F0E035192C12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2479E0-1B73-4310-A9FE-E5E2524AEB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4547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c9d258fd9_0_6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c9d258fd9_0_6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43C5C3BC-F961-1B0D-9DAA-90307EB84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c9d258fd9_0_626:notes">
            <a:extLst>
              <a:ext uri="{FF2B5EF4-FFF2-40B4-BE49-F238E27FC236}">
                <a16:creationId xmlns:a16="http://schemas.microsoft.com/office/drawing/2014/main" id="{A7C8E7A1-7CF2-04E6-4F92-48C10D6B27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c9d258fd9_0_626:notes">
            <a:extLst>
              <a:ext uri="{FF2B5EF4-FFF2-40B4-BE49-F238E27FC236}">
                <a16:creationId xmlns:a16="http://schemas.microsoft.com/office/drawing/2014/main" id="{2DEAE092-DC2A-6431-290B-EA98CEE886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62403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9c5aa6865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a9c5aa6865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88E52-521E-4DAC-92CE-3883A4EA04F7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E67A0F5C-9116-4934-BA48-F9CAE698D3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565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88E52-521E-4DAC-92CE-3883A4EA04F7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A0F5C-9116-4934-BA48-F9CAE698D3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8989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7788E52-521E-4DAC-92CE-3883A4EA04F7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E67A0F5C-9116-4934-BA48-F9CAE698D3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0417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88E52-521E-4DAC-92CE-3883A4EA04F7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A0F5C-9116-4934-BA48-F9CAE698D3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4262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88E52-521E-4DAC-92CE-3883A4EA04F7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A0F5C-9116-4934-BA48-F9CAE698D3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751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88E52-521E-4DAC-92CE-3883A4EA04F7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A0F5C-9116-4934-BA48-F9CAE698D3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6391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88E52-521E-4DAC-92CE-3883A4EA04F7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A0F5C-9116-4934-BA48-F9CAE698D3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365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88E52-521E-4DAC-92CE-3883A4EA04F7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A0F5C-9116-4934-BA48-F9CAE698D3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3479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88E52-521E-4DAC-92CE-3883A4EA04F7}" type="datetimeFigureOut">
              <a:rPr lang="en-IN" smtClean="0"/>
              <a:t>16-02-2026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A0F5C-9116-4934-BA48-F9CAE698D3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6259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88E52-521E-4DAC-92CE-3883A4EA04F7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A0F5C-9116-4934-BA48-F9CAE698D3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4933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88E52-521E-4DAC-92CE-3883A4EA04F7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A0F5C-9116-4934-BA48-F9CAE698D3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5329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C7788E52-521E-4DAC-92CE-3883A4EA04F7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E67A0F5C-9116-4934-BA48-F9CAE698D3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838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9.xml"/><Relationship Id="rId4" Type="http://schemas.openxmlformats.org/officeDocument/2006/relationships/image" Target="../media/image8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5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hingle">
          <a:fgClr>
            <a:schemeClr val="tx2">
              <a:lumMod val="20000"/>
              <a:lumOff val="80000"/>
            </a:schemeClr>
          </a:fgClr>
          <a:bgClr>
            <a:schemeClr val="bg2">
              <a:lumMod val="9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39967-E5D3-9BB3-D5BA-6D96D552A2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Fine-tune SLM w/ LORA</a:t>
            </a:r>
            <a:endParaRPr lang="en-IN" sz="2400" dirty="0">
              <a:solidFill>
                <a:schemeClr val="accent2"/>
              </a:solidFill>
            </a:endParaRPr>
          </a:p>
        </p:txBody>
      </p:sp>
      <p:sp>
        <p:nvSpPr>
          <p:cNvPr id="3" name="Google Shape;34;p6">
            <a:extLst>
              <a:ext uri="{FF2B5EF4-FFF2-40B4-BE49-F238E27FC236}">
                <a16:creationId xmlns:a16="http://schemas.microsoft.com/office/drawing/2014/main" id="{BD547F39-4BE0-B43A-02DE-C37411954609}"/>
              </a:ext>
            </a:extLst>
          </p:cNvPr>
          <p:cNvSpPr txBox="1"/>
          <p:nvPr/>
        </p:nvSpPr>
        <p:spPr>
          <a:xfrm>
            <a:off x="7160159" y="4276962"/>
            <a:ext cx="371954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lvl="0"/>
            <a:r>
              <a:rPr lang="en-US" sz="2400" dirty="0" err="1">
                <a:solidFill>
                  <a:srgbClr val="002060"/>
                </a:solidFill>
              </a:rPr>
              <a:t>HasGeek</a:t>
            </a:r>
            <a:endParaRPr lang="en-US" sz="2400" dirty="0">
              <a:solidFill>
                <a:srgbClr val="002060"/>
              </a:solidFill>
            </a:endParaRPr>
          </a:p>
          <a:p>
            <a:pPr lvl="0"/>
            <a:r>
              <a:rPr lang="en-US" sz="2400" dirty="0">
                <a:solidFill>
                  <a:srgbClr val="002060"/>
                </a:solidFill>
              </a:rPr>
              <a:t>The Fifth Elephant</a:t>
            </a:r>
            <a:endParaRPr sz="2400" dirty="0">
              <a:solidFill>
                <a:srgbClr val="002060"/>
              </a:solidFill>
              <a:latin typeface="+mj-lt"/>
              <a:ea typeface="Roboto Mono Light"/>
              <a:cs typeface="Roboto Mono Light"/>
              <a:sym typeface="Roboto Mono Light"/>
            </a:endParaRPr>
          </a:p>
        </p:txBody>
      </p:sp>
      <p:sp>
        <p:nvSpPr>
          <p:cNvPr id="4" name="Google Shape;34;p6">
            <a:extLst>
              <a:ext uri="{FF2B5EF4-FFF2-40B4-BE49-F238E27FC236}">
                <a16:creationId xmlns:a16="http://schemas.microsoft.com/office/drawing/2014/main" id="{18C5C5F4-342F-3365-60CA-C263A3617336}"/>
              </a:ext>
            </a:extLst>
          </p:cNvPr>
          <p:cNvSpPr txBox="1"/>
          <p:nvPr/>
        </p:nvSpPr>
        <p:spPr>
          <a:xfrm>
            <a:off x="4955960" y="5200261"/>
            <a:ext cx="2158159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solidFill>
                  <a:schemeClr val="accent2"/>
                </a:solidFill>
                <a:latin typeface="+mj-lt"/>
                <a:ea typeface="Roboto Mono Light"/>
                <a:cs typeface="Roboto Mono Light"/>
                <a:sym typeface="Roboto Mono Light"/>
              </a:rPr>
              <a:t>Mayur Madnani</a:t>
            </a:r>
            <a:endParaRPr sz="3200" dirty="0">
              <a:solidFill>
                <a:schemeClr val="accent2"/>
              </a:solidFill>
              <a:latin typeface="+mj-lt"/>
              <a:ea typeface="Roboto Mono Light"/>
              <a:cs typeface="Roboto Mono Light"/>
              <a:sym typeface="Roboto Mono Light"/>
            </a:endParaRPr>
          </a:p>
        </p:txBody>
      </p:sp>
    </p:spTree>
    <p:extLst>
      <p:ext uri="{BB962C8B-B14F-4D97-AF65-F5344CB8AC3E}">
        <p14:creationId xmlns:p14="http://schemas.microsoft.com/office/powerpoint/2010/main" val="242498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hingle">
          <a:fgClr>
            <a:schemeClr val="tx2">
              <a:lumMod val="20000"/>
              <a:lumOff val="80000"/>
            </a:schemeClr>
          </a:fgClr>
          <a:bgClr>
            <a:schemeClr val="bg2">
              <a:lumMod val="9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4;p6">
            <a:extLst>
              <a:ext uri="{FF2B5EF4-FFF2-40B4-BE49-F238E27FC236}">
                <a16:creationId xmlns:a16="http://schemas.microsoft.com/office/drawing/2014/main" id="{C8AA9C7A-3DBE-DC83-2D6A-C5047FE64D1E}"/>
              </a:ext>
            </a:extLst>
          </p:cNvPr>
          <p:cNvSpPr txBox="1"/>
          <p:nvPr/>
        </p:nvSpPr>
        <p:spPr>
          <a:xfrm>
            <a:off x="2180209" y="5217269"/>
            <a:ext cx="2128319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+mj-lt"/>
                <a:ea typeface="Roboto Mono Light"/>
                <a:cs typeface="Roboto Mono Light"/>
                <a:sym typeface="Roboto Mono Light"/>
              </a:rPr>
              <a:t>Mayur Madnani</a:t>
            </a:r>
            <a:endParaRPr sz="2400" dirty="0">
              <a:solidFill>
                <a:schemeClr val="dk1"/>
              </a:solidFill>
              <a:latin typeface="+mj-lt"/>
              <a:ea typeface="Roboto Mono Light"/>
              <a:cs typeface="Roboto Mono Light"/>
              <a:sym typeface="Roboto Mono Light"/>
            </a:endParaRPr>
          </a:p>
        </p:txBody>
      </p:sp>
      <p:sp>
        <p:nvSpPr>
          <p:cNvPr id="3" name="Google Shape;35;p6">
            <a:extLst>
              <a:ext uri="{FF2B5EF4-FFF2-40B4-BE49-F238E27FC236}">
                <a16:creationId xmlns:a16="http://schemas.microsoft.com/office/drawing/2014/main" id="{0DBC1F6A-936B-3E3E-B6DD-7F92E6D21725}"/>
              </a:ext>
            </a:extLst>
          </p:cNvPr>
          <p:cNvSpPr txBox="1"/>
          <p:nvPr/>
        </p:nvSpPr>
        <p:spPr>
          <a:xfrm>
            <a:off x="1453685" y="2275554"/>
            <a:ext cx="4294200" cy="2462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●"/>
            </a:pPr>
            <a:r>
              <a:rPr lang="en" sz="2000" dirty="0">
                <a:solidFill>
                  <a:schemeClr val="dk1"/>
                </a:solidFill>
                <a:ea typeface="Google Sans"/>
                <a:cs typeface="Google Sans"/>
                <a:sym typeface="Google Sans"/>
              </a:rPr>
              <a:t>Staff Engg @ JioHotstar</a:t>
            </a:r>
            <a:endParaRPr sz="2000" dirty="0">
              <a:solidFill>
                <a:schemeClr val="dk1"/>
              </a:solidFill>
              <a:ea typeface="Google Sans"/>
              <a:cs typeface="Google Sans"/>
              <a:sym typeface="Google Sa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●"/>
            </a:pPr>
            <a:r>
              <a:rPr lang="en" sz="2000" dirty="0">
                <a:solidFill>
                  <a:schemeClr val="dk1"/>
                </a:solidFill>
                <a:ea typeface="Google Sans"/>
                <a:cs typeface="Google Sans"/>
                <a:sym typeface="Google Sans"/>
              </a:rPr>
              <a:t>Previously @ Intuit, Walmart, SAP</a:t>
            </a:r>
            <a:endParaRPr sz="2000" dirty="0">
              <a:solidFill>
                <a:schemeClr val="dk1"/>
              </a:solidFill>
              <a:ea typeface="Google Sans"/>
              <a:cs typeface="Google Sans"/>
              <a:sym typeface="Google Sa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●"/>
            </a:pPr>
            <a:r>
              <a:rPr lang="en" sz="2000" dirty="0">
                <a:solidFill>
                  <a:schemeClr val="dk1"/>
                </a:solidFill>
                <a:ea typeface="Google Sans"/>
                <a:cs typeface="Google Sans"/>
                <a:sym typeface="Google Sans"/>
              </a:rPr>
              <a:t>Expertise in Data, AI and Backend</a:t>
            </a:r>
            <a:endParaRPr sz="2000" dirty="0">
              <a:solidFill>
                <a:schemeClr val="dk1"/>
              </a:solidFill>
              <a:ea typeface="Google Sans"/>
              <a:cs typeface="Google Sans"/>
              <a:sym typeface="Google Sa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●"/>
            </a:pPr>
            <a:r>
              <a:rPr lang="en" sz="2000" dirty="0">
                <a:solidFill>
                  <a:schemeClr val="dk1"/>
                </a:solidFill>
                <a:ea typeface="Google Sans"/>
                <a:cs typeface="Google Sans"/>
                <a:sym typeface="Google Sans"/>
              </a:rPr>
              <a:t>~10 years in the Industry</a:t>
            </a:r>
            <a:endParaRPr sz="2000" dirty="0">
              <a:solidFill>
                <a:schemeClr val="dk1"/>
              </a:solidFill>
              <a:ea typeface="Google Sans"/>
              <a:cs typeface="Google Sans"/>
              <a:sym typeface="Google Sa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●"/>
            </a:pPr>
            <a:r>
              <a:rPr lang="en" sz="2000" dirty="0">
                <a:solidFill>
                  <a:schemeClr val="dk1"/>
                </a:solidFill>
                <a:ea typeface="Google Sans"/>
                <a:cs typeface="Google Sans"/>
                <a:sym typeface="Google Sans"/>
              </a:rPr>
              <a:t>GenAI Course Author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●"/>
            </a:pPr>
            <a:r>
              <a:rPr lang="en" sz="2000" dirty="0">
                <a:solidFill>
                  <a:schemeClr val="dk1"/>
                </a:solidFill>
                <a:ea typeface="Google Sans"/>
                <a:cs typeface="Google Sans"/>
                <a:sym typeface="Google Sans"/>
              </a:rPr>
              <a:t>Speaker &amp; Mentor</a:t>
            </a:r>
            <a:endParaRPr sz="2000" dirty="0">
              <a:solidFill>
                <a:schemeClr val="dk1"/>
              </a:solidFill>
              <a:ea typeface="Google Sans"/>
              <a:cs typeface="Google Sans"/>
              <a:sym typeface="Google San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1D12F6-B777-0F16-9FC8-45891031DF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7241" y="1100379"/>
            <a:ext cx="4003337" cy="439376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4" name="Google Shape;110;p12">
            <a:extLst>
              <a:ext uri="{FF2B5EF4-FFF2-40B4-BE49-F238E27FC236}">
                <a16:creationId xmlns:a16="http://schemas.microsoft.com/office/drawing/2014/main" id="{CACC83DE-CCEC-DD6A-A4BE-6609C45073BF}"/>
              </a:ext>
            </a:extLst>
          </p:cNvPr>
          <p:cNvSpPr/>
          <p:nvPr/>
        </p:nvSpPr>
        <p:spPr>
          <a:xfrm>
            <a:off x="354363" y="280379"/>
            <a:ext cx="2749055" cy="8200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 sz="3200" dirty="0"/>
              <a:t>Who Am I?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8315596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hingle">
          <a:fgClr>
            <a:schemeClr val="tx2">
              <a:lumMod val="20000"/>
              <a:lumOff val="80000"/>
            </a:schemeClr>
          </a:fgClr>
          <a:bgClr>
            <a:schemeClr val="bg2">
              <a:lumMod val="90000"/>
            </a:schemeClr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B1A7AE-9D92-BA84-2139-2705D11D6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2"/>
          <p:cNvSpPr/>
          <p:nvPr/>
        </p:nvSpPr>
        <p:spPr>
          <a:xfrm>
            <a:off x="341333" y="330000"/>
            <a:ext cx="6113200" cy="8200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3200" dirty="0">
                <a:solidFill>
                  <a:srgbClr val="1E1E1E"/>
                </a:solidFill>
                <a:ea typeface="Google Sans"/>
                <a:cs typeface="Google Sans"/>
                <a:sym typeface="Google Sans"/>
              </a:rPr>
              <a:t>The “Generalist” Problem</a:t>
            </a:r>
            <a:endParaRPr sz="2000" dirty="0">
              <a:solidFill>
                <a:srgbClr val="1E1E1E"/>
              </a:solidFill>
              <a:ea typeface="Roboto Mono Light"/>
              <a:cs typeface="Roboto Mono Light"/>
              <a:sym typeface="Roboto Mono Light"/>
            </a:endParaRPr>
          </a:p>
        </p:txBody>
      </p:sp>
      <p:pic>
        <p:nvPicPr>
          <p:cNvPr id="111" name="Google Shape;111;p12" descr="improve quality and change background to #f0f0f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2667" y="1262633"/>
            <a:ext cx="7606667" cy="5333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233830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hingle">
          <a:fgClr>
            <a:schemeClr val="tx2">
              <a:lumMod val="20000"/>
              <a:lumOff val="80000"/>
            </a:schemeClr>
          </a:fgClr>
          <a:bgClr>
            <a:schemeClr val="bg2">
              <a:lumMod val="90000"/>
            </a:schemeClr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4FFE20-0843-8EBD-CB2E-7E751F1BC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2">
            <a:extLst>
              <a:ext uri="{FF2B5EF4-FFF2-40B4-BE49-F238E27FC236}">
                <a16:creationId xmlns:a16="http://schemas.microsoft.com/office/drawing/2014/main" id="{DCFF06B6-43E5-779B-413C-69EE365F42F2}"/>
              </a:ext>
            </a:extLst>
          </p:cNvPr>
          <p:cNvSpPr/>
          <p:nvPr/>
        </p:nvSpPr>
        <p:spPr>
          <a:xfrm>
            <a:off x="341333" y="330000"/>
            <a:ext cx="6113200" cy="8200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3200" dirty="0">
                <a:solidFill>
                  <a:srgbClr val="1E1E1E"/>
                </a:solidFill>
                <a:ea typeface="Google Sans"/>
                <a:cs typeface="Google Sans"/>
                <a:sym typeface="Google Sans"/>
              </a:rPr>
              <a:t>The “Generalist” Problem</a:t>
            </a:r>
            <a:endParaRPr sz="2000" dirty="0">
              <a:solidFill>
                <a:srgbClr val="1E1E1E"/>
              </a:solidFill>
              <a:ea typeface="Roboto Mono Light"/>
              <a:cs typeface="Roboto Mono Light"/>
              <a:sym typeface="Roboto Mono Ligh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AE5FD8-2D6A-3FA8-8A6D-4913B40815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740" y="1401049"/>
            <a:ext cx="7561586" cy="512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7444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hingle">
          <a:fgClr>
            <a:schemeClr val="tx2">
              <a:lumMod val="20000"/>
              <a:lumOff val="80000"/>
            </a:schemeClr>
          </a:fgClr>
          <a:bgClr>
            <a:schemeClr val="bg2">
              <a:lumMod val="90000"/>
            </a:schemeClr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8D889-39B1-4805-A55B-643750140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2">
            <a:extLst>
              <a:ext uri="{FF2B5EF4-FFF2-40B4-BE49-F238E27FC236}">
                <a16:creationId xmlns:a16="http://schemas.microsoft.com/office/drawing/2014/main" id="{8D7DE5CE-E781-9A64-8305-D4EB9F6339C2}"/>
              </a:ext>
            </a:extLst>
          </p:cNvPr>
          <p:cNvSpPr/>
          <p:nvPr/>
        </p:nvSpPr>
        <p:spPr>
          <a:xfrm>
            <a:off x="341333" y="330000"/>
            <a:ext cx="6113200" cy="8200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3200" dirty="0">
                <a:solidFill>
                  <a:srgbClr val="1E1E1E"/>
                </a:solidFill>
                <a:ea typeface="Google Sans"/>
                <a:cs typeface="Google Sans"/>
                <a:sym typeface="Google Sans"/>
              </a:rPr>
              <a:t>The “Generalist” Problem</a:t>
            </a:r>
            <a:endParaRPr sz="2000" dirty="0">
              <a:solidFill>
                <a:srgbClr val="1E1E1E"/>
              </a:solidFill>
              <a:ea typeface="Roboto Mono Light"/>
              <a:cs typeface="Roboto Mono Light"/>
              <a:sym typeface="Roboto Mono Light"/>
            </a:endParaRPr>
          </a:p>
        </p:txBody>
      </p:sp>
      <p:grpSp>
        <p:nvGrpSpPr>
          <p:cNvPr id="47" name="Google Shape;47;p8"/>
          <p:cNvGrpSpPr/>
          <p:nvPr/>
        </p:nvGrpSpPr>
        <p:grpSpPr>
          <a:xfrm>
            <a:off x="1681851" y="1515683"/>
            <a:ext cx="8770099" cy="964656"/>
            <a:chOff x="1239450" y="1690375"/>
            <a:chExt cx="6577574" cy="723492"/>
          </a:xfrm>
        </p:grpSpPr>
        <p:sp>
          <p:nvSpPr>
            <p:cNvPr id="48" name="Google Shape;48;p8"/>
            <p:cNvSpPr/>
            <p:nvPr/>
          </p:nvSpPr>
          <p:spPr>
            <a:xfrm>
              <a:off x="4021688" y="1693688"/>
              <a:ext cx="3795336" cy="716904"/>
            </a:xfrm>
            <a:prstGeom prst="flowChartTerminator">
              <a:avLst/>
            </a:pr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2400">
                  <a:latin typeface="Google Sans"/>
                  <a:ea typeface="Google Sans"/>
                  <a:cs typeface="Google Sans"/>
                  <a:sym typeface="Google Sans"/>
                </a:rPr>
                <a:t>Struggle in specialized fields</a:t>
              </a:r>
              <a:endParaRPr sz="2400"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sp>
          <p:nvSpPr>
            <p:cNvPr id="49" name="Google Shape;49;p8"/>
            <p:cNvSpPr/>
            <p:nvPr/>
          </p:nvSpPr>
          <p:spPr>
            <a:xfrm>
              <a:off x="1239450" y="1690375"/>
              <a:ext cx="2782242" cy="723492"/>
            </a:xfrm>
            <a:prstGeom prst="flowChartTerminator">
              <a:avLst/>
            </a:prstGeom>
            <a:solidFill>
              <a:srgbClr val="E0666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2400" b="1" dirty="0">
                  <a:solidFill>
                    <a:schemeClr val="lt1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Domain Mismatch</a:t>
              </a:r>
              <a:endParaRPr sz="2400" b="1" dirty="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grpSp>
        <p:nvGrpSpPr>
          <p:cNvPr id="50" name="Google Shape;50;p8"/>
          <p:cNvGrpSpPr/>
          <p:nvPr/>
        </p:nvGrpSpPr>
        <p:grpSpPr>
          <a:xfrm>
            <a:off x="1681867" y="3165900"/>
            <a:ext cx="8769757" cy="964656"/>
            <a:chOff x="1239450" y="1690375"/>
            <a:chExt cx="6577318" cy="723492"/>
          </a:xfrm>
        </p:grpSpPr>
        <p:sp>
          <p:nvSpPr>
            <p:cNvPr id="51" name="Google Shape;51;p8"/>
            <p:cNvSpPr/>
            <p:nvPr/>
          </p:nvSpPr>
          <p:spPr>
            <a:xfrm>
              <a:off x="4021702" y="1693675"/>
              <a:ext cx="3795066" cy="716904"/>
            </a:xfrm>
            <a:prstGeom prst="flowChartTerminator">
              <a:avLst/>
            </a:pr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2400">
                  <a:latin typeface="Google Sans"/>
                  <a:ea typeface="Google Sans"/>
                  <a:cs typeface="Google Sans"/>
                  <a:sym typeface="Google Sans"/>
                </a:rPr>
                <a:t>Real time information &amp; context</a:t>
              </a:r>
              <a:endParaRPr sz="2400"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sp>
          <p:nvSpPr>
            <p:cNvPr id="52" name="Google Shape;52;p8"/>
            <p:cNvSpPr/>
            <p:nvPr/>
          </p:nvSpPr>
          <p:spPr>
            <a:xfrm>
              <a:off x="1239450" y="1690375"/>
              <a:ext cx="2782242" cy="723492"/>
            </a:xfrm>
            <a:prstGeom prst="flowChartTerminator">
              <a:avLst/>
            </a:prstGeom>
            <a:solidFill>
              <a:schemeClr val="accent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2400" b="1">
                  <a:solidFill>
                    <a:schemeClr val="lt1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Static Knowledge</a:t>
              </a:r>
              <a:endParaRPr sz="2400" b="1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grpSp>
        <p:nvGrpSpPr>
          <p:cNvPr id="53" name="Google Shape;53;p8"/>
          <p:cNvGrpSpPr/>
          <p:nvPr/>
        </p:nvGrpSpPr>
        <p:grpSpPr>
          <a:xfrm>
            <a:off x="1711154" y="4816187"/>
            <a:ext cx="8740817" cy="964656"/>
            <a:chOff x="1239450" y="1690375"/>
            <a:chExt cx="6577318" cy="723492"/>
          </a:xfrm>
        </p:grpSpPr>
        <p:sp>
          <p:nvSpPr>
            <p:cNvPr id="54" name="Google Shape;54;p8"/>
            <p:cNvSpPr/>
            <p:nvPr/>
          </p:nvSpPr>
          <p:spPr>
            <a:xfrm>
              <a:off x="4021702" y="1693688"/>
              <a:ext cx="3795066" cy="716904"/>
            </a:xfrm>
            <a:prstGeom prst="flowChartTerminator">
              <a:avLst/>
            </a:pr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2400">
                  <a:latin typeface="Google Sans"/>
                  <a:ea typeface="Google Sans"/>
                  <a:cs typeface="Google Sans"/>
                  <a:sym typeface="Google Sans"/>
                </a:rPr>
                <a:t>Cost and Practicality</a:t>
              </a:r>
              <a:endParaRPr sz="2400"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sp>
          <p:nvSpPr>
            <p:cNvPr id="55" name="Google Shape;55;p8"/>
            <p:cNvSpPr/>
            <p:nvPr/>
          </p:nvSpPr>
          <p:spPr>
            <a:xfrm>
              <a:off x="1239450" y="1690375"/>
              <a:ext cx="2782242" cy="723492"/>
            </a:xfrm>
            <a:prstGeom prst="flowChartTerminator">
              <a:avLst/>
            </a:prstGeom>
            <a:solidFill>
              <a:schemeClr val="accent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2400" b="1">
                  <a:solidFill>
                    <a:schemeClr val="lt1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Deployment Constraints</a:t>
              </a:r>
              <a:endParaRPr sz="2400" b="1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480310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hingle">
          <a:fgClr>
            <a:schemeClr val="tx2">
              <a:lumMod val="20000"/>
              <a:lumOff val="80000"/>
            </a:schemeClr>
          </a:fgClr>
          <a:bgClr>
            <a:schemeClr val="bg2">
              <a:lumMod val="90000"/>
            </a:schemeClr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66C750-867C-D89C-12A3-1B83D956C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2">
            <a:extLst>
              <a:ext uri="{FF2B5EF4-FFF2-40B4-BE49-F238E27FC236}">
                <a16:creationId xmlns:a16="http://schemas.microsoft.com/office/drawing/2014/main" id="{AE108278-4514-495F-1A8C-3CE553246C35}"/>
              </a:ext>
            </a:extLst>
          </p:cNvPr>
          <p:cNvSpPr/>
          <p:nvPr/>
        </p:nvSpPr>
        <p:spPr>
          <a:xfrm>
            <a:off x="341333" y="330000"/>
            <a:ext cx="2928340" cy="8200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IN" sz="3200" dirty="0">
                <a:solidFill>
                  <a:srgbClr val="1E1E1E"/>
                </a:solidFill>
                <a:ea typeface="Google Sans"/>
                <a:cs typeface="Google Sans"/>
                <a:sym typeface="Google Sans"/>
              </a:rPr>
              <a:t>LLMs / SLMs</a:t>
            </a:r>
          </a:p>
        </p:txBody>
      </p:sp>
      <p:sp>
        <p:nvSpPr>
          <p:cNvPr id="50" name="Google Shape;50;p8"/>
          <p:cNvSpPr/>
          <p:nvPr/>
        </p:nvSpPr>
        <p:spPr>
          <a:xfrm>
            <a:off x="1926267" y="2619833"/>
            <a:ext cx="3501200" cy="5228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1E1E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>
                <a:solidFill>
                  <a:srgbClr val="1E1E1E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Massive Scale</a:t>
            </a:r>
            <a:endParaRPr sz="2400">
              <a:solidFill>
                <a:srgbClr val="1E1E1E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1" name="Google Shape;51;p8"/>
          <p:cNvSpPr/>
          <p:nvPr/>
        </p:nvSpPr>
        <p:spPr>
          <a:xfrm>
            <a:off x="2260467" y="1297167"/>
            <a:ext cx="2832800" cy="95520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19050" cap="flat" cmpd="sng">
            <a:solidFill>
              <a:srgbClr val="1E1E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000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Large Language Models (LLMs)</a:t>
            </a:r>
            <a:endParaRPr sz="2000">
              <a:solidFill>
                <a:schemeClr val="lt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2" name="Google Shape;52;p8"/>
          <p:cNvSpPr/>
          <p:nvPr/>
        </p:nvSpPr>
        <p:spPr>
          <a:xfrm>
            <a:off x="7127367" y="1297167"/>
            <a:ext cx="2810000" cy="9552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9050" cap="flat" cmpd="sng">
            <a:solidFill>
              <a:srgbClr val="1E1E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000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Small Language Models (SLMs)</a:t>
            </a:r>
            <a:endParaRPr sz="2000">
              <a:solidFill>
                <a:schemeClr val="lt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4" name="Google Shape;54;p8"/>
          <p:cNvSpPr/>
          <p:nvPr/>
        </p:nvSpPr>
        <p:spPr>
          <a:xfrm>
            <a:off x="1945067" y="3419300"/>
            <a:ext cx="3463600" cy="5228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1E1E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>
                <a:solidFill>
                  <a:srgbClr val="1E1E1E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Deep Architecture</a:t>
            </a:r>
            <a:endParaRPr sz="2400">
              <a:solidFill>
                <a:srgbClr val="1E1E1E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5" name="Google Shape;55;p8"/>
          <p:cNvSpPr/>
          <p:nvPr/>
        </p:nvSpPr>
        <p:spPr>
          <a:xfrm>
            <a:off x="1926267" y="4220300"/>
            <a:ext cx="3501200" cy="5228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1E1E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>
                <a:solidFill>
                  <a:srgbClr val="1E1E1E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Versatile</a:t>
            </a:r>
            <a:endParaRPr sz="2400">
              <a:solidFill>
                <a:srgbClr val="1E1E1E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6" name="Google Shape;56;p8"/>
          <p:cNvSpPr/>
          <p:nvPr/>
        </p:nvSpPr>
        <p:spPr>
          <a:xfrm>
            <a:off x="1926267" y="5022067"/>
            <a:ext cx="3501200" cy="5228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1E1E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>
                <a:solidFill>
                  <a:srgbClr val="1E1E1E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Resource Intensive</a:t>
            </a:r>
            <a:endParaRPr sz="2400">
              <a:solidFill>
                <a:srgbClr val="1E1E1E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7" name="Google Shape;57;p8"/>
          <p:cNvSpPr/>
          <p:nvPr/>
        </p:nvSpPr>
        <p:spPr>
          <a:xfrm>
            <a:off x="6739967" y="2566633"/>
            <a:ext cx="3584800" cy="5228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1E1E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>
                <a:solidFill>
                  <a:srgbClr val="1E1E1E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Knowledge Transfer</a:t>
            </a:r>
            <a:endParaRPr sz="2400">
              <a:solidFill>
                <a:srgbClr val="1E1E1E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8" name="Google Shape;58;p8"/>
          <p:cNvSpPr/>
          <p:nvPr/>
        </p:nvSpPr>
        <p:spPr>
          <a:xfrm>
            <a:off x="6739967" y="3360000"/>
            <a:ext cx="3584800" cy="5228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1E1E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>
                <a:solidFill>
                  <a:srgbClr val="1E1E1E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Compact Architecture</a:t>
            </a:r>
            <a:endParaRPr sz="2400">
              <a:solidFill>
                <a:srgbClr val="1E1E1E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9" name="Google Shape;59;p8"/>
          <p:cNvSpPr/>
          <p:nvPr/>
        </p:nvSpPr>
        <p:spPr>
          <a:xfrm>
            <a:off x="6721167" y="4159467"/>
            <a:ext cx="3622400" cy="5228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1E1E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>
                <a:solidFill>
                  <a:srgbClr val="1E1E1E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Precision focused</a:t>
            </a:r>
            <a:endParaRPr sz="2400">
              <a:solidFill>
                <a:srgbClr val="1E1E1E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60" name="Google Shape;60;p8"/>
          <p:cNvSpPr/>
          <p:nvPr/>
        </p:nvSpPr>
        <p:spPr>
          <a:xfrm>
            <a:off x="6702367" y="4961984"/>
            <a:ext cx="3660000" cy="5228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1E1E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>
                <a:solidFill>
                  <a:srgbClr val="1E1E1E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Agentic &amp; privacy focus</a:t>
            </a:r>
            <a:endParaRPr sz="2400">
              <a:solidFill>
                <a:srgbClr val="1E1E1E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61" name="Google Shape;61;p8"/>
          <p:cNvSpPr/>
          <p:nvPr/>
        </p:nvSpPr>
        <p:spPr>
          <a:xfrm>
            <a:off x="6721167" y="5764533"/>
            <a:ext cx="3622400" cy="5228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1E1E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>
                <a:solidFill>
                  <a:srgbClr val="1E1E1E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Domain specialist</a:t>
            </a:r>
            <a:endParaRPr sz="2400">
              <a:solidFill>
                <a:srgbClr val="1E1E1E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62" name="Google Shape;62;p8"/>
          <p:cNvSpPr/>
          <p:nvPr/>
        </p:nvSpPr>
        <p:spPr>
          <a:xfrm>
            <a:off x="1865667" y="5823833"/>
            <a:ext cx="3622400" cy="5228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1E1E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>
                <a:solidFill>
                  <a:srgbClr val="1E1E1E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Performance</a:t>
            </a:r>
            <a:endParaRPr sz="2400">
              <a:solidFill>
                <a:srgbClr val="1E1E1E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  <p:extLst>
      <p:ext uri="{BB962C8B-B14F-4D97-AF65-F5344CB8AC3E}">
        <p14:creationId xmlns:p14="http://schemas.microsoft.com/office/powerpoint/2010/main" val="36205179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hingle">
          <a:fgClr>
            <a:schemeClr val="tx2">
              <a:lumMod val="20000"/>
              <a:lumOff val="80000"/>
            </a:schemeClr>
          </a:fgClr>
          <a:bgClr>
            <a:schemeClr val="bg2">
              <a:lumMod val="90000"/>
            </a:schemeClr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87B51F-785A-82A5-373D-AC2130F07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7" name="Google Shape;67;p9"/>
          <p:cNvGraphicFramePr/>
          <p:nvPr/>
        </p:nvGraphicFramePr>
        <p:xfrm>
          <a:off x="1220400" y="1379233"/>
          <a:ext cx="9651999" cy="50594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1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5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Feature</a:t>
                      </a:r>
                      <a:endParaRPr sz="2400"/>
                    </a:p>
                  </a:txBody>
                  <a:tcPr marL="121900" marR="121900" marT="121900" marB="12190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>
                          <a:solidFill>
                            <a:schemeClr val="lt1"/>
                          </a:solidFill>
                        </a:rPr>
                        <a:t>LLM</a:t>
                      </a:r>
                      <a:endParaRPr sz="2400" b="1">
                        <a:solidFill>
                          <a:schemeClr val="lt1"/>
                        </a:solidFill>
                      </a:endParaRPr>
                    </a:p>
                  </a:txBody>
                  <a:tcPr marL="121900" marR="121900" marT="121900" marB="12190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>
                          <a:solidFill>
                            <a:schemeClr val="lt1"/>
                          </a:solidFill>
                        </a:rPr>
                        <a:t>SLM</a:t>
                      </a:r>
                      <a:endParaRPr sz="2400" b="1">
                        <a:solidFill>
                          <a:schemeClr val="lt1"/>
                        </a:solidFill>
                      </a:endParaRPr>
                    </a:p>
                  </a:txBody>
                  <a:tcPr marL="121900" marR="121900" marT="121900" marB="121900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5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 dirty="0">
                          <a:solidFill>
                            <a:schemeClr val="dk1"/>
                          </a:solidFill>
                        </a:rPr>
                        <a:t>Philosophy</a:t>
                      </a:r>
                      <a:endParaRPr sz="2400" b="1" dirty="0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solidFill>
                            <a:schemeClr val="dk1"/>
                          </a:solidFill>
                        </a:rPr>
                        <a:t>One model to rule them all</a:t>
                      </a:r>
                      <a:endParaRPr sz="2100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solidFill>
                            <a:schemeClr val="dk1"/>
                          </a:solidFill>
                        </a:rPr>
                        <a:t>Right tool for the right job</a:t>
                      </a:r>
                      <a:endParaRPr sz="2100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40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 dirty="0">
                          <a:solidFill>
                            <a:schemeClr val="dk1"/>
                          </a:solidFill>
                        </a:rPr>
                        <a:t>Scale</a:t>
                      </a:r>
                      <a:endParaRPr sz="2400" b="1" dirty="0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solidFill>
                            <a:schemeClr val="dk1"/>
                          </a:solidFill>
                        </a:rPr>
                        <a:t>Massive parameters</a:t>
                      </a:r>
                      <a:endParaRPr sz="21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solidFill>
                            <a:schemeClr val="dk1"/>
                          </a:solidFill>
                        </a:rPr>
                        <a:t>(100B+)</a:t>
                      </a:r>
                      <a:endParaRPr sz="2100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solidFill>
                            <a:schemeClr val="dk1"/>
                          </a:solidFill>
                        </a:rPr>
                        <a:t>Compact &amp; Efficient</a:t>
                      </a:r>
                      <a:endParaRPr sz="21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solidFill>
                            <a:schemeClr val="dk1"/>
                          </a:solidFill>
                        </a:rPr>
                        <a:t>(&lt;10B)</a:t>
                      </a:r>
                      <a:endParaRPr sz="2100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40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 dirty="0">
                          <a:solidFill>
                            <a:schemeClr val="dk1"/>
                          </a:solidFill>
                        </a:rPr>
                        <a:t>Focus</a:t>
                      </a:r>
                      <a:endParaRPr sz="2400" b="1" dirty="0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solidFill>
                            <a:schemeClr val="dk1"/>
                          </a:solidFill>
                        </a:rPr>
                        <a:t>General purpose versatility</a:t>
                      </a:r>
                      <a:endParaRPr sz="2100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solidFill>
                            <a:schemeClr val="dk1"/>
                          </a:solidFill>
                        </a:rPr>
                        <a:t>Domain precision &amp; Agentic workflows</a:t>
                      </a:r>
                      <a:endParaRPr sz="2100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40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 dirty="0">
                          <a:solidFill>
                            <a:schemeClr val="dk1"/>
                          </a:solidFill>
                        </a:rPr>
                        <a:t>Resources</a:t>
                      </a:r>
                      <a:endParaRPr sz="2400" b="1" dirty="0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solidFill>
                            <a:schemeClr val="dk1"/>
                          </a:solidFill>
                        </a:rPr>
                        <a:t>Requires data center clusters</a:t>
                      </a:r>
                      <a:endParaRPr sz="2100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solidFill>
                            <a:schemeClr val="dk1"/>
                          </a:solidFill>
                        </a:rPr>
                        <a:t>Runs on consumer GPUs/edge devices</a:t>
                      </a:r>
                      <a:endParaRPr sz="2100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5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 dirty="0">
                          <a:solidFill>
                            <a:schemeClr val="dk1"/>
                          </a:solidFill>
                        </a:rPr>
                        <a:t>Outcome</a:t>
                      </a:r>
                      <a:endParaRPr sz="2400" b="1" dirty="0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solidFill>
                            <a:schemeClr val="dk1"/>
                          </a:solidFill>
                        </a:rPr>
                        <a:t>Raw Knowledge Capability</a:t>
                      </a:r>
                      <a:endParaRPr sz="2100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 dirty="0">
                          <a:solidFill>
                            <a:schemeClr val="dk1"/>
                          </a:solidFill>
                        </a:rPr>
                        <a:t>Privacy, Speed, and ROI</a:t>
                      </a:r>
                      <a:endParaRPr sz="2100" dirty="0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Google Shape;110;p12">
            <a:extLst>
              <a:ext uri="{FF2B5EF4-FFF2-40B4-BE49-F238E27FC236}">
                <a16:creationId xmlns:a16="http://schemas.microsoft.com/office/drawing/2014/main" id="{47646184-0518-1890-66F0-00D71F3BAD77}"/>
              </a:ext>
            </a:extLst>
          </p:cNvPr>
          <p:cNvSpPr/>
          <p:nvPr/>
        </p:nvSpPr>
        <p:spPr>
          <a:xfrm>
            <a:off x="341333" y="330000"/>
            <a:ext cx="2928340" cy="8200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IN" sz="3200" dirty="0">
                <a:solidFill>
                  <a:srgbClr val="1E1E1E"/>
                </a:solidFill>
                <a:ea typeface="Google Sans"/>
                <a:cs typeface="Google Sans"/>
                <a:sym typeface="Google Sans"/>
              </a:rPr>
              <a:t>LLMs / SLMs</a:t>
            </a:r>
          </a:p>
        </p:txBody>
      </p:sp>
    </p:spTree>
    <p:extLst>
      <p:ext uri="{BB962C8B-B14F-4D97-AF65-F5344CB8AC3E}">
        <p14:creationId xmlns:p14="http://schemas.microsoft.com/office/powerpoint/2010/main" val="36722747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hingle">
          <a:fgClr>
            <a:schemeClr val="tx2">
              <a:lumMod val="20000"/>
              <a:lumOff val="80000"/>
            </a:schemeClr>
          </a:fgClr>
          <a:bgClr>
            <a:schemeClr val="bg2">
              <a:lumMod val="90000"/>
            </a:schemeClr>
          </a:bgClr>
        </a:patt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Google Shape;61;p9"/>
          <p:cNvGraphicFramePr/>
          <p:nvPr/>
        </p:nvGraphicFramePr>
        <p:xfrm>
          <a:off x="1078734" y="1934800"/>
          <a:ext cx="9444767" cy="39164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923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21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87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0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700" b="1">
                          <a:solidFill>
                            <a:schemeClr val="dk1"/>
                          </a:solidFill>
                        </a:rPr>
                        <a:t>Technique</a:t>
                      </a:r>
                      <a:endParaRPr sz="2700" b="1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700" b="1">
                          <a:solidFill>
                            <a:schemeClr val="dk1"/>
                          </a:solidFill>
                        </a:rPr>
                        <a:t>Use Cases</a:t>
                      </a:r>
                      <a:endParaRPr sz="2700" b="1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700" b="1">
                          <a:solidFill>
                            <a:schemeClr val="dk1"/>
                          </a:solidFill>
                        </a:rPr>
                        <a:t>Cost</a:t>
                      </a:r>
                      <a:endParaRPr sz="2700" b="1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532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700">
                          <a:solidFill>
                            <a:schemeClr val="dk1"/>
                          </a:solidFill>
                        </a:rPr>
                        <a:t>Prompt Engineering</a:t>
                      </a:r>
                      <a:endParaRPr sz="2700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</a:rPr>
                        <a:t>Guided reasoning without training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700">
                          <a:solidFill>
                            <a:schemeClr val="dk1"/>
                          </a:solidFill>
                        </a:rPr>
                        <a:t>Parametric (Full)</a:t>
                      </a:r>
                      <a:endParaRPr sz="2700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</a:rPr>
                        <a:t>Complete retraining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532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700">
                          <a:solidFill>
                            <a:schemeClr val="dk1"/>
                          </a:solidFill>
                        </a:rPr>
                        <a:t>Semi-Parametric</a:t>
                      </a:r>
                      <a:endParaRPr sz="2700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</a:rPr>
                        <a:t>Injecting live facts/documents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700">
                          <a:solidFill>
                            <a:schemeClr val="dk1"/>
                          </a:solidFill>
                        </a:rPr>
                        <a:t>Parametric (Efficient)</a:t>
                      </a:r>
                      <a:endParaRPr sz="2700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</a:rPr>
                        <a:t>Updating specific skills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2" name="Google Shape;62;p9"/>
          <p:cNvSpPr/>
          <p:nvPr/>
        </p:nvSpPr>
        <p:spPr>
          <a:xfrm>
            <a:off x="9385017" y="2960000"/>
            <a:ext cx="282400" cy="3460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E066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3" name="Google Shape;63;p9"/>
          <p:cNvSpPr/>
          <p:nvPr/>
        </p:nvSpPr>
        <p:spPr>
          <a:xfrm>
            <a:off x="9752184" y="2960000"/>
            <a:ext cx="282400" cy="3460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E066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4" name="Google Shape;64;p9"/>
          <p:cNvSpPr/>
          <p:nvPr/>
        </p:nvSpPr>
        <p:spPr>
          <a:xfrm>
            <a:off x="9017851" y="3793667"/>
            <a:ext cx="282400" cy="3460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5" name="Google Shape;65;p9"/>
          <p:cNvSpPr/>
          <p:nvPr/>
        </p:nvSpPr>
        <p:spPr>
          <a:xfrm>
            <a:off x="9385017" y="3793667"/>
            <a:ext cx="282400" cy="3460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6" name="Google Shape;66;p9"/>
          <p:cNvSpPr/>
          <p:nvPr/>
        </p:nvSpPr>
        <p:spPr>
          <a:xfrm>
            <a:off x="9752184" y="3793667"/>
            <a:ext cx="282400" cy="3460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7" name="Google Shape;67;p9"/>
          <p:cNvSpPr/>
          <p:nvPr/>
        </p:nvSpPr>
        <p:spPr>
          <a:xfrm>
            <a:off x="10119351" y="3793667"/>
            <a:ext cx="282400" cy="3460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8" name="Google Shape;68;p9"/>
          <p:cNvSpPr/>
          <p:nvPr/>
        </p:nvSpPr>
        <p:spPr>
          <a:xfrm>
            <a:off x="9201433" y="4394533"/>
            <a:ext cx="282400" cy="3460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9" name="Google Shape;69;p9"/>
          <p:cNvSpPr/>
          <p:nvPr/>
        </p:nvSpPr>
        <p:spPr>
          <a:xfrm>
            <a:off x="9568600" y="4394533"/>
            <a:ext cx="282400" cy="3460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0" name="Google Shape;70;p9"/>
          <p:cNvSpPr/>
          <p:nvPr/>
        </p:nvSpPr>
        <p:spPr>
          <a:xfrm>
            <a:off x="9935767" y="4394533"/>
            <a:ext cx="282400" cy="3460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1" name="Google Shape;71;p9"/>
          <p:cNvSpPr/>
          <p:nvPr/>
        </p:nvSpPr>
        <p:spPr>
          <a:xfrm>
            <a:off x="9568600" y="5284833"/>
            <a:ext cx="282400" cy="3460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EA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" name="Google Shape;110;p12">
            <a:extLst>
              <a:ext uri="{FF2B5EF4-FFF2-40B4-BE49-F238E27FC236}">
                <a16:creationId xmlns:a16="http://schemas.microsoft.com/office/drawing/2014/main" id="{72FECE4D-D89A-46EB-965F-D8FEBB056EB0}"/>
              </a:ext>
            </a:extLst>
          </p:cNvPr>
          <p:cNvSpPr/>
          <p:nvPr/>
        </p:nvSpPr>
        <p:spPr>
          <a:xfrm>
            <a:off x="341332" y="330000"/>
            <a:ext cx="3639541" cy="8200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IN" sz="3200" dirty="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Model Adaptation</a:t>
            </a:r>
            <a:endParaRPr lang="en-IN" sz="2000" dirty="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hingle">
          <a:fgClr>
            <a:schemeClr val="tx2">
              <a:lumMod val="20000"/>
              <a:lumOff val="80000"/>
            </a:schemeClr>
          </a:fgClr>
          <a:bgClr>
            <a:schemeClr val="bg2">
              <a:lumMod val="90000"/>
            </a:schemeClr>
          </a:bgClr>
        </a:patt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0F6FA57C-A8DB-698E-8E8F-6086356BB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77;p10" descr="create this in background color of #f0f0f0">
            <a:extLst>
              <a:ext uri="{FF2B5EF4-FFF2-40B4-BE49-F238E27FC236}">
                <a16:creationId xmlns:a16="http://schemas.microsoft.com/office/drawing/2014/main" id="{1771AC48-C6FD-1415-8A82-348213861C7C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634" y="1353200"/>
            <a:ext cx="10502733" cy="529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10;p12">
            <a:extLst>
              <a:ext uri="{FF2B5EF4-FFF2-40B4-BE49-F238E27FC236}">
                <a16:creationId xmlns:a16="http://schemas.microsoft.com/office/drawing/2014/main" id="{6BFA84C6-6BB5-03D9-702C-AE9D18B7FE51}"/>
              </a:ext>
            </a:extLst>
          </p:cNvPr>
          <p:cNvSpPr/>
          <p:nvPr/>
        </p:nvSpPr>
        <p:spPr>
          <a:xfrm>
            <a:off x="341332" y="330000"/>
            <a:ext cx="5255903" cy="8200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IN" sz="3200" dirty="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Low-Rank Adaptation (</a:t>
            </a:r>
            <a:r>
              <a:rPr lang="en-IN" sz="3200" dirty="0" err="1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LoRA</a:t>
            </a:r>
            <a:r>
              <a:rPr lang="en-IN" sz="3200" dirty="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)</a:t>
            </a:r>
            <a:endParaRPr lang="en-IN" sz="2000" dirty="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  <p:extLst>
      <p:ext uri="{BB962C8B-B14F-4D97-AF65-F5344CB8AC3E}">
        <p14:creationId xmlns:p14="http://schemas.microsoft.com/office/powerpoint/2010/main" val="10892792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hingle">
          <a:fgClr>
            <a:schemeClr val="tx2">
              <a:lumMod val="20000"/>
              <a:lumOff val="80000"/>
            </a:schemeClr>
          </a:fgClr>
          <a:bgClr>
            <a:schemeClr val="bg2">
              <a:lumMod val="90000"/>
            </a:schemeClr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9AB745-FA7D-4F38-9E8C-DB3865B9B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2">
            <a:extLst>
              <a:ext uri="{FF2B5EF4-FFF2-40B4-BE49-F238E27FC236}">
                <a16:creationId xmlns:a16="http://schemas.microsoft.com/office/drawing/2014/main" id="{A4CC6717-31E2-5F5A-10A3-40ABBEF0AAEA}"/>
              </a:ext>
            </a:extLst>
          </p:cNvPr>
          <p:cNvSpPr/>
          <p:nvPr/>
        </p:nvSpPr>
        <p:spPr>
          <a:xfrm>
            <a:off x="341332" y="330000"/>
            <a:ext cx="5255903" cy="8200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IN" sz="3200" dirty="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Low-Rank Adaptation (</a:t>
            </a:r>
            <a:r>
              <a:rPr lang="en-IN" sz="3200" dirty="0" err="1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LoRA</a:t>
            </a:r>
            <a:r>
              <a:rPr lang="en-IN" sz="3200" dirty="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)</a:t>
            </a:r>
            <a:endParaRPr lang="en-IN" sz="2000" dirty="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pic>
        <p:nvPicPr>
          <p:cNvPr id="3" name="Google Shape;88;p12">
            <a:extLst>
              <a:ext uri="{FF2B5EF4-FFF2-40B4-BE49-F238E27FC236}">
                <a16:creationId xmlns:a16="http://schemas.microsoft.com/office/drawing/2014/main" id="{4FE669EE-9935-EEDE-BC44-C5C8013BE4A1}"/>
              </a:ext>
            </a:extLst>
          </p:cNvPr>
          <p:cNvPicPr preferRelativeResize="0"/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28369" y="1342237"/>
            <a:ext cx="6735262" cy="49279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23645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hingle">
          <a:fgClr>
            <a:schemeClr val="tx2">
              <a:lumMod val="20000"/>
              <a:lumOff val="80000"/>
            </a:schemeClr>
          </a:fgClr>
          <a:bgClr>
            <a:schemeClr val="bg2">
              <a:lumMod val="90000"/>
            </a:schemeClr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4BB9FB-EF68-1BD4-1706-321C81B01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2">
            <a:extLst>
              <a:ext uri="{FF2B5EF4-FFF2-40B4-BE49-F238E27FC236}">
                <a16:creationId xmlns:a16="http://schemas.microsoft.com/office/drawing/2014/main" id="{A3823804-D64A-0144-C95D-B358E4FC76FE}"/>
              </a:ext>
            </a:extLst>
          </p:cNvPr>
          <p:cNvSpPr/>
          <p:nvPr/>
        </p:nvSpPr>
        <p:spPr>
          <a:xfrm>
            <a:off x="341332" y="330000"/>
            <a:ext cx="5255903" cy="8200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IN" sz="3200" dirty="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Low-Rank Adaptation (</a:t>
            </a:r>
            <a:r>
              <a:rPr lang="en-IN" sz="3200" dirty="0" err="1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LoRA</a:t>
            </a:r>
            <a:r>
              <a:rPr lang="en-IN" sz="3200" dirty="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)</a:t>
            </a:r>
            <a:endParaRPr lang="en-IN" sz="2000" dirty="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pic>
        <p:nvPicPr>
          <p:cNvPr id="3" name="Google Shape;88;p12">
            <a:extLst>
              <a:ext uri="{FF2B5EF4-FFF2-40B4-BE49-F238E27FC236}">
                <a16:creationId xmlns:a16="http://schemas.microsoft.com/office/drawing/2014/main" id="{BEDFBEDE-F83F-CE45-5DB4-86A3DE45904F}"/>
              </a:ext>
            </a:extLst>
          </p:cNvPr>
          <p:cNvPicPr preferRelativeResize="0"/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1666" y="1513392"/>
            <a:ext cx="10668668" cy="45856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3185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hingle">
          <a:fgClr>
            <a:schemeClr val="tx2">
              <a:lumMod val="20000"/>
              <a:lumOff val="80000"/>
            </a:schemeClr>
          </a:fgClr>
          <a:bgClr>
            <a:schemeClr val="bg2">
              <a:lumMod val="90000"/>
            </a:schemeClr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FD98C9-216F-20B1-7B1C-335668DAE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2">
            <a:extLst>
              <a:ext uri="{FF2B5EF4-FFF2-40B4-BE49-F238E27FC236}">
                <a16:creationId xmlns:a16="http://schemas.microsoft.com/office/drawing/2014/main" id="{DE082FDA-4303-F60E-B44F-755F7FDDB6FE}"/>
              </a:ext>
            </a:extLst>
          </p:cNvPr>
          <p:cNvSpPr/>
          <p:nvPr/>
        </p:nvSpPr>
        <p:spPr>
          <a:xfrm>
            <a:off x="341333" y="330000"/>
            <a:ext cx="3048412" cy="8200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IN" sz="3200" dirty="0" err="1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LoRA</a:t>
            </a:r>
            <a:r>
              <a:rPr lang="en-IN" sz="3200" dirty="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 Adapters</a:t>
            </a:r>
            <a:endParaRPr lang="en-IN" sz="2000" dirty="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pic>
        <p:nvPicPr>
          <p:cNvPr id="2" name="Google Shape;83;p11" descr="increase text size even more">
            <a:extLst>
              <a:ext uri="{FF2B5EF4-FFF2-40B4-BE49-F238E27FC236}">
                <a16:creationId xmlns:a16="http://schemas.microsoft.com/office/drawing/2014/main" id="{A4BE4F8B-B3B7-3B9E-8716-2BE9FD5CFE1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3867" y="239285"/>
            <a:ext cx="7339933" cy="63794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970755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hingle">
          <a:fgClr>
            <a:schemeClr val="tx2">
              <a:lumMod val="20000"/>
              <a:lumOff val="80000"/>
            </a:schemeClr>
          </a:fgClr>
          <a:bgClr>
            <a:schemeClr val="bg2">
              <a:lumMod val="90000"/>
            </a:schemeClr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45CD86-2FC0-2F6C-09CF-4BDB2052F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2">
            <a:extLst>
              <a:ext uri="{FF2B5EF4-FFF2-40B4-BE49-F238E27FC236}">
                <a16:creationId xmlns:a16="http://schemas.microsoft.com/office/drawing/2014/main" id="{C8A85050-15BA-FE00-16B3-D2293C137808}"/>
              </a:ext>
            </a:extLst>
          </p:cNvPr>
          <p:cNvSpPr/>
          <p:nvPr/>
        </p:nvSpPr>
        <p:spPr>
          <a:xfrm>
            <a:off x="341332" y="330000"/>
            <a:ext cx="5255903" cy="8200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IN" sz="3200" dirty="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Key Takeaways</a:t>
            </a:r>
            <a:endParaRPr lang="en-IN" sz="2000" dirty="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grpSp>
        <p:nvGrpSpPr>
          <p:cNvPr id="95" name="Google Shape;95;p13"/>
          <p:cNvGrpSpPr/>
          <p:nvPr/>
        </p:nvGrpSpPr>
        <p:grpSpPr>
          <a:xfrm>
            <a:off x="1989562" y="5275099"/>
            <a:ext cx="8212885" cy="1319973"/>
            <a:chOff x="1492171" y="3956324"/>
            <a:chExt cx="6159664" cy="989980"/>
          </a:xfrm>
        </p:grpSpPr>
        <p:pic>
          <p:nvPicPr>
            <p:cNvPr id="96" name="Google Shape;96;p13" title="Screenshot 2025-12-02 180913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672935" y="3961861"/>
              <a:ext cx="978900" cy="978900"/>
            </a:xfrm>
            <a:prstGeom prst="ellipse">
              <a:avLst/>
            </a:prstGeom>
            <a:noFill/>
            <a:ln w="117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97" name="Google Shape;97;p13"/>
            <p:cNvSpPr/>
            <p:nvPr/>
          </p:nvSpPr>
          <p:spPr>
            <a:xfrm>
              <a:off x="1492171" y="3958908"/>
              <a:ext cx="989980" cy="984812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17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0000" tIns="150000" rIns="150000" bIns="150000" anchor="ctr" anchorCtr="0">
              <a:noAutofit/>
            </a:bodyPr>
            <a:lstStyle/>
            <a:p>
              <a:pPr>
                <a:lnSpc>
                  <a:spcPct val="80000"/>
                </a:lnSpc>
              </a:pPr>
              <a:endParaRPr sz="2296">
                <a:solidFill>
                  <a:schemeClr val="dk1"/>
                </a:solidFill>
              </a:endParaRPr>
            </a:p>
          </p:txBody>
        </p:sp>
        <p:sp>
          <p:nvSpPr>
            <p:cNvPr id="98" name="Google Shape;98;p13"/>
            <p:cNvSpPr/>
            <p:nvPr/>
          </p:nvSpPr>
          <p:spPr>
            <a:xfrm>
              <a:off x="2489211" y="3956324"/>
              <a:ext cx="4178438" cy="98998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17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00033" tIns="194967" rIns="300033" bIns="194967" anchor="ctr" anchorCtr="0">
              <a:noAutofit/>
            </a:bodyPr>
            <a:lstStyle/>
            <a:p>
              <a:pPr>
                <a:lnSpc>
                  <a:spcPct val="115000"/>
                </a:lnSpc>
                <a:buClr>
                  <a:schemeClr val="dk1"/>
                </a:buClr>
                <a:buSzPts val="1100"/>
              </a:pPr>
              <a:r>
                <a:rPr lang="en" sz="2667">
                  <a:solidFill>
                    <a:srgbClr val="01010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The </a:t>
              </a:r>
              <a:r>
                <a:rPr lang="en" sz="2667" b="1">
                  <a:solidFill>
                    <a:srgbClr val="01010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Modular </a:t>
              </a:r>
              <a:r>
                <a:rPr lang="en" sz="2667">
                  <a:solidFill>
                    <a:srgbClr val="01010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Ecosystem</a:t>
              </a:r>
              <a:endParaRPr sz="1968">
                <a:solidFill>
                  <a:srgbClr val="01010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99" name="Google Shape;99;p13"/>
            <p:cNvSpPr txBox="1"/>
            <p:nvPr/>
          </p:nvSpPr>
          <p:spPr>
            <a:xfrm>
              <a:off x="1492171" y="3956693"/>
              <a:ext cx="989980" cy="9892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0000" tIns="150000" rIns="150000" bIns="15000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" sz="5413">
                  <a:latin typeface="IBM Plex Sans"/>
                  <a:ea typeface="IBM Plex Sans"/>
                  <a:cs typeface="IBM Plex Sans"/>
                  <a:sym typeface="IBM Plex Sans"/>
                </a:rPr>
                <a:t>4</a:t>
              </a:r>
              <a:endParaRPr sz="5413"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100" name="Google Shape;100;p13"/>
          <p:cNvGrpSpPr/>
          <p:nvPr/>
        </p:nvGrpSpPr>
        <p:grpSpPr>
          <a:xfrm>
            <a:off x="1989562" y="3955115"/>
            <a:ext cx="8212885" cy="1319973"/>
            <a:chOff x="1492171" y="2966336"/>
            <a:chExt cx="6159664" cy="989980"/>
          </a:xfrm>
        </p:grpSpPr>
        <p:pic>
          <p:nvPicPr>
            <p:cNvPr id="101" name="Google Shape;101;p13" title="Screenshot 2025-12-02 181407.png"/>
            <p:cNvPicPr preferRelativeResize="0"/>
            <p:nvPr/>
          </p:nvPicPr>
          <p:blipFill rotWithShape="1">
            <a:blip r:embed="rId4">
              <a:alphaModFix/>
            </a:blip>
            <a:srcRect l="758" r="748"/>
            <a:stretch/>
          </p:blipFill>
          <p:spPr>
            <a:xfrm>
              <a:off x="6672935" y="2971873"/>
              <a:ext cx="978900" cy="978900"/>
            </a:xfrm>
            <a:prstGeom prst="ellipse">
              <a:avLst/>
            </a:prstGeom>
            <a:noFill/>
            <a:ln w="117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102" name="Google Shape;102;p13"/>
            <p:cNvSpPr/>
            <p:nvPr/>
          </p:nvSpPr>
          <p:spPr>
            <a:xfrm>
              <a:off x="1492171" y="2967259"/>
              <a:ext cx="989980" cy="988134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17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0000" tIns="150000" rIns="150000" bIns="150000" anchor="ctr" anchorCtr="0">
              <a:noAutofit/>
            </a:bodyPr>
            <a:lstStyle/>
            <a:p>
              <a:pPr>
                <a:lnSpc>
                  <a:spcPct val="80000"/>
                </a:lnSpc>
              </a:pPr>
              <a:endParaRPr sz="2296">
                <a:solidFill>
                  <a:schemeClr val="dk1"/>
                </a:solidFill>
              </a:endParaRPr>
            </a:p>
          </p:txBody>
        </p:sp>
        <p:sp>
          <p:nvSpPr>
            <p:cNvPr id="103" name="Google Shape;103;p13"/>
            <p:cNvSpPr/>
            <p:nvPr/>
          </p:nvSpPr>
          <p:spPr>
            <a:xfrm>
              <a:off x="2489211" y="2966336"/>
              <a:ext cx="4178438" cy="98998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17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00033" tIns="194967" rIns="300033" bIns="194967" anchor="ctr" anchorCtr="0">
              <a:noAutofit/>
            </a:bodyPr>
            <a:lstStyle/>
            <a:p>
              <a:pPr>
                <a:lnSpc>
                  <a:spcPct val="115000"/>
                </a:lnSpc>
              </a:pPr>
              <a:r>
                <a:rPr lang="en" sz="2667">
                  <a:solidFill>
                    <a:srgbClr val="01010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Adaptation- Jack of all trades into a </a:t>
              </a:r>
              <a:r>
                <a:rPr lang="en" sz="2667" b="1">
                  <a:solidFill>
                    <a:srgbClr val="01010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Master of One</a:t>
              </a:r>
              <a:endParaRPr sz="1968" b="1">
                <a:solidFill>
                  <a:srgbClr val="01010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04" name="Google Shape;104;p13"/>
            <p:cNvSpPr txBox="1"/>
            <p:nvPr/>
          </p:nvSpPr>
          <p:spPr>
            <a:xfrm>
              <a:off x="1492171" y="2966705"/>
              <a:ext cx="989980" cy="9892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0000" tIns="150000" rIns="150000" bIns="15000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" sz="5413">
                  <a:latin typeface="IBM Plex Sans"/>
                  <a:ea typeface="IBM Plex Sans"/>
                  <a:cs typeface="IBM Plex Sans"/>
                  <a:sym typeface="IBM Plex Sans"/>
                </a:rPr>
                <a:t>3</a:t>
              </a:r>
              <a:endParaRPr sz="5413"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105" name="Google Shape;105;p13"/>
          <p:cNvGrpSpPr/>
          <p:nvPr/>
        </p:nvGrpSpPr>
        <p:grpSpPr>
          <a:xfrm>
            <a:off x="1989562" y="2635131"/>
            <a:ext cx="8212885" cy="1319973"/>
            <a:chOff x="1492171" y="1976348"/>
            <a:chExt cx="6159664" cy="989980"/>
          </a:xfrm>
        </p:grpSpPr>
        <p:pic>
          <p:nvPicPr>
            <p:cNvPr id="106" name="Google Shape;106;p13" title="Screenshot 2025-12-02 181444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672935" y="1981885"/>
              <a:ext cx="978900" cy="978900"/>
            </a:xfrm>
            <a:prstGeom prst="ellipse">
              <a:avLst/>
            </a:prstGeom>
            <a:noFill/>
            <a:ln w="117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107" name="Google Shape;107;p13"/>
            <p:cNvSpPr/>
            <p:nvPr/>
          </p:nvSpPr>
          <p:spPr>
            <a:xfrm>
              <a:off x="1492171" y="1976348"/>
              <a:ext cx="989980" cy="98998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17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0000" tIns="150000" rIns="150000" bIns="150000" anchor="ctr" anchorCtr="0">
              <a:noAutofit/>
            </a:bodyPr>
            <a:lstStyle/>
            <a:p>
              <a:pPr>
                <a:lnSpc>
                  <a:spcPct val="80000"/>
                </a:lnSpc>
              </a:pPr>
              <a:endParaRPr sz="2296">
                <a:solidFill>
                  <a:schemeClr val="dk1"/>
                </a:solidFill>
              </a:endParaRPr>
            </a:p>
          </p:txBody>
        </p:sp>
        <p:sp>
          <p:nvSpPr>
            <p:cNvPr id="108" name="Google Shape;108;p13"/>
            <p:cNvSpPr/>
            <p:nvPr/>
          </p:nvSpPr>
          <p:spPr>
            <a:xfrm>
              <a:off x="2489211" y="1976348"/>
              <a:ext cx="4178438" cy="98998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17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00033" tIns="194967" rIns="300033" bIns="194967" anchor="ctr" anchorCtr="0">
              <a:noAutofit/>
            </a:bodyPr>
            <a:lstStyle/>
            <a:p>
              <a:pPr>
                <a:lnSpc>
                  <a:spcPct val="115000"/>
                </a:lnSpc>
              </a:pPr>
              <a:r>
                <a:rPr lang="en" sz="2667">
                  <a:solidFill>
                    <a:srgbClr val="01010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Scaling down for </a:t>
              </a:r>
              <a:r>
                <a:rPr lang="en" sz="2667" b="1">
                  <a:solidFill>
                    <a:srgbClr val="01010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practical utility</a:t>
              </a:r>
              <a:endParaRPr sz="1968" b="1">
                <a:solidFill>
                  <a:srgbClr val="01010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09" name="Google Shape;109;p13"/>
            <p:cNvSpPr txBox="1"/>
            <p:nvPr/>
          </p:nvSpPr>
          <p:spPr>
            <a:xfrm>
              <a:off x="1492171" y="1976717"/>
              <a:ext cx="989980" cy="9892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0000" tIns="150000" rIns="150000" bIns="15000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" sz="5413">
                  <a:latin typeface="IBM Plex Sans"/>
                  <a:ea typeface="IBM Plex Sans"/>
                  <a:cs typeface="IBM Plex Sans"/>
                  <a:sym typeface="IBM Plex Sans"/>
                </a:rPr>
                <a:t>2</a:t>
              </a:r>
              <a:endParaRPr sz="5413"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2" name="Google Shape;110;p13"/>
          <p:cNvGrpSpPr/>
          <p:nvPr/>
        </p:nvGrpSpPr>
        <p:grpSpPr>
          <a:xfrm>
            <a:off x="1989562" y="1315147"/>
            <a:ext cx="8212885" cy="1319973"/>
            <a:chOff x="1492171" y="986360"/>
            <a:chExt cx="6159664" cy="989980"/>
          </a:xfrm>
        </p:grpSpPr>
        <p:pic>
          <p:nvPicPr>
            <p:cNvPr id="111" name="Google Shape;111;p13" title="Screenshot 2025-12-02 180213.png"/>
            <p:cNvPicPr preferRelativeResize="0"/>
            <p:nvPr/>
          </p:nvPicPr>
          <p:blipFill rotWithShape="1">
            <a:blip r:embed="rId6">
              <a:alphaModFix/>
            </a:blip>
            <a:srcRect l="455" r="455"/>
            <a:stretch/>
          </p:blipFill>
          <p:spPr>
            <a:xfrm>
              <a:off x="6672935" y="991897"/>
              <a:ext cx="978900" cy="978900"/>
            </a:xfrm>
            <a:prstGeom prst="roundRect">
              <a:avLst>
                <a:gd name="adj" fmla="val 50000"/>
              </a:avLst>
            </a:prstGeom>
            <a:noFill/>
            <a:ln w="117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112" name="Google Shape;112;p13"/>
            <p:cNvSpPr/>
            <p:nvPr/>
          </p:nvSpPr>
          <p:spPr>
            <a:xfrm>
              <a:off x="1492171" y="988944"/>
              <a:ext cx="989980" cy="984812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17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0000" tIns="150000" rIns="150000" bIns="150000" anchor="ctr" anchorCtr="0">
              <a:noAutofit/>
            </a:bodyPr>
            <a:lstStyle/>
            <a:p>
              <a:pPr>
                <a:lnSpc>
                  <a:spcPct val="80000"/>
                </a:lnSpc>
              </a:pPr>
              <a:endParaRPr sz="2296">
                <a:solidFill>
                  <a:schemeClr val="dk1"/>
                </a:solidFill>
              </a:endParaRPr>
            </a:p>
          </p:txBody>
        </p:sp>
        <p:sp>
          <p:nvSpPr>
            <p:cNvPr id="113" name="Google Shape;113;p13"/>
            <p:cNvSpPr/>
            <p:nvPr/>
          </p:nvSpPr>
          <p:spPr>
            <a:xfrm>
              <a:off x="2489211" y="986360"/>
              <a:ext cx="4178438" cy="98998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17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00033" tIns="194967" rIns="300033" bIns="194967" anchor="ctr" anchorCtr="0">
              <a:noAutofit/>
            </a:bodyPr>
            <a:lstStyle/>
            <a:p>
              <a:pPr>
                <a:lnSpc>
                  <a:spcPct val="115000"/>
                </a:lnSpc>
              </a:pPr>
              <a:r>
                <a:rPr lang="en" sz="2667">
                  <a:solidFill>
                    <a:srgbClr val="01010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Shift from </a:t>
              </a:r>
              <a:r>
                <a:rPr lang="en" sz="2667" b="1">
                  <a:solidFill>
                    <a:srgbClr val="01010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Giants</a:t>
              </a:r>
              <a:r>
                <a:rPr lang="en" sz="2667">
                  <a:solidFill>
                    <a:srgbClr val="01010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to </a:t>
              </a:r>
              <a:r>
                <a:rPr lang="en" sz="2667" b="1">
                  <a:solidFill>
                    <a:srgbClr val="01010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Specialists</a:t>
              </a:r>
              <a:endParaRPr sz="2667" b="1">
                <a:solidFill>
                  <a:srgbClr val="01010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14" name="Google Shape;114;p13"/>
            <p:cNvSpPr txBox="1"/>
            <p:nvPr/>
          </p:nvSpPr>
          <p:spPr>
            <a:xfrm>
              <a:off x="1492171" y="986729"/>
              <a:ext cx="989980" cy="9892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0000" tIns="150000" rIns="150000" bIns="15000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353"/>
              </a:pPr>
              <a:r>
                <a:rPr lang="en" sz="5413">
                  <a:latin typeface="IBM Plex Sans"/>
                  <a:ea typeface="IBM Plex Sans"/>
                  <a:cs typeface="IBM Plex Sans"/>
                  <a:sym typeface="IBM Plex Sans"/>
                </a:rPr>
                <a:t>1</a:t>
              </a:r>
              <a:endParaRPr sz="5413"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318072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hingle">
          <a:fgClr>
            <a:schemeClr val="tx2">
              <a:lumMod val="20000"/>
              <a:lumOff val="80000"/>
            </a:schemeClr>
          </a:fgClr>
          <a:bgClr>
            <a:schemeClr val="bg2">
              <a:lumMod val="9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FCE2B93-65C2-31FA-6EE7-2CAF14531CCD}"/>
              </a:ext>
            </a:extLst>
          </p:cNvPr>
          <p:cNvSpPr txBox="1"/>
          <p:nvPr/>
        </p:nvSpPr>
        <p:spPr>
          <a:xfrm>
            <a:off x="2549596" y="2028616"/>
            <a:ext cx="7092808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8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WORKSHOP</a:t>
            </a:r>
            <a:br>
              <a:rPr lang="en-US" sz="88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</a:br>
            <a:r>
              <a:rPr lang="en-US" sz="88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27335259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hingle">
          <a:fgClr>
            <a:schemeClr val="tx2">
              <a:lumMod val="20000"/>
              <a:lumOff val="80000"/>
            </a:schemeClr>
          </a:fgClr>
          <a:bgClr>
            <a:schemeClr val="bg2">
              <a:lumMod val="90000"/>
            </a:schemeClr>
          </a:bgClr>
        </a:patt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6"/>
          <p:cNvGrpSpPr/>
          <p:nvPr/>
        </p:nvGrpSpPr>
        <p:grpSpPr>
          <a:xfrm>
            <a:off x="3658466" y="1091912"/>
            <a:ext cx="4875076" cy="4674200"/>
            <a:chOff x="2365963" y="456588"/>
            <a:chExt cx="4412100" cy="4230300"/>
          </a:xfrm>
        </p:grpSpPr>
        <p:sp>
          <p:nvSpPr>
            <p:cNvPr id="137" name="Google Shape;137;p16"/>
            <p:cNvSpPr/>
            <p:nvPr/>
          </p:nvSpPr>
          <p:spPr>
            <a:xfrm>
              <a:off x="2365963" y="456588"/>
              <a:ext cx="4412100" cy="4230300"/>
            </a:xfrm>
            <a:prstGeom prst="flowChartAlternateProcess">
              <a:avLst/>
            </a:prstGeom>
            <a:solidFill>
              <a:schemeClr val="lt2"/>
            </a:solidFill>
            <a:ln w="631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7362" dist="15787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101000" tIns="101000" rIns="101000" bIns="101000" anchor="ctr" anchorCtr="0">
              <a:noAutofit/>
            </a:bodyPr>
            <a:lstStyle/>
            <a:p>
              <a:pPr algn="ctr"/>
              <a:endParaRPr sz="1547"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pic>
          <p:nvPicPr>
            <p:cNvPr id="138" name="Google Shape;138;p16" title="qr-microfables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65538" y="658837"/>
              <a:ext cx="3812925" cy="38258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9" name="Google Shape;139;p16"/>
          <p:cNvSpPr/>
          <p:nvPr/>
        </p:nvSpPr>
        <p:spPr>
          <a:xfrm>
            <a:off x="341333" y="330000"/>
            <a:ext cx="2737200" cy="8200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3333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Workshop</a:t>
            </a:r>
            <a:endParaRPr sz="24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sp>
        <p:nvSpPr>
          <p:cNvPr id="2" name="Google Shape;313;p32">
            <a:extLst>
              <a:ext uri="{FF2B5EF4-FFF2-40B4-BE49-F238E27FC236}">
                <a16:creationId xmlns:a16="http://schemas.microsoft.com/office/drawing/2014/main" id="{F16E9F1E-89BB-1115-8155-896C0FD507B3}"/>
              </a:ext>
            </a:extLst>
          </p:cNvPr>
          <p:cNvSpPr/>
          <p:nvPr/>
        </p:nvSpPr>
        <p:spPr>
          <a:xfrm>
            <a:off x="2314340" y="5898067"/>
            <a:ext cx="7563300" cy="6150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2800" dirty="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https://github.com/mayurmadnani/MicroFables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hingle">
          <a:fgClr>
            <a:schemeClr val="tx2">
              <a:lumMod val="20000"/>
              <a:lumOff val="80000"/>
            </a:schemeClr>
          </a:fgClr>
          <a:bgClr>
            <a:schemeClr val="bg2">
              <a:lumMod val="90000"/>
            </a:schemeClr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58EC0C-1AFB-4D64-7DF8-136932687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3E708-D356-504B-4F1F-5330BBD5B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You!!</a:t>
            </a:r>
            <a:endParaRPr lang="en-IN" dirty="0"/>
          </a:p>
        </p:txBody>
      </p:sp>
      <p:grpSp>
        <p:nvGrpSpPr>
          <p:cNvPr id="3" name="Google Shape;309;p32">
            <a:extLst>
              <a:ext uri="{FF2B5EF4-FFF2-40B4-BE49-F238E27FC236}">
                <a16:creationId xmlns:a16="http://schemas.microsoft.com/office/drawing/2014/main" id="{BC829061-33E4-A959-9595-7E0DD5CCB967}"/>
              </a:ext>
            </a:extLst>
          </p:cNvPr>
          <p:cNvGrpSpPr/>
          <p:nvPr/>
        </p:nvGrpSpPr>
        <p:grpSpPr>
          <a:xfrm>
            <a:off x="4364726" y="1925339"/>
            <a:ext cx="3645277" cy="3495074"/>
            <a:chOff x="2365963" y="456588"/>
            <a:chExt cx="4412100" cy="4230300"/>
          </a:xfrm>
        </p:grpSpPr>
        <p:sp>
          <p:nvSpPr>
            <p:cNvPr id="5" name="Google Shape;310;p32">
              <a:extLst>
                <a:ext uri="{FF2B5EF4-FFF2-40B4-BE49-F238E27FC236}">
                  <a16:creationId xmlns:a16="http://schemas.microsoft.com/office/drawing/2014/main" id="{A5D2424B-24DB-6CB4-CD38-7E2846720B8F}"/>
                </a:ext>
              </a:extLst>
            </p:cNvPr>
            <p:cNvSpPr/>
            <p:nvPr/>
          </p:nvSpPr>
          <p:spPr>
            <a:xfrm>
              <a:off x="2365963" y="456588"/>
              <a:ext cx="4412100" cy="4230300"/>
            </a:xfrm>
            <a:prstGeom prst="flowChartAlternateProcess">
              <a:avLst/>
            </a:prstGeom>
            <a:solidFill>
              <a:schemeClr val="lt2"/>
            </a:solidFill>
            <a:ln w="629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7215" dist="15738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75525" tIns="75525" rIns="75525" bIns="755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56"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pic>
          <p:nvPicPr>
            <p:cNvPr id="6" name="Google Shape;311;p32" title="linkedin qr.jpg">
              <a:extLst>
                <a:ext uri="{FF2B5EF4-FFF2-40B4-BE49-F238E27FC236}">
                  <a16:creationId xmlns:a16="http://schemas.microsoft.com/office/drawing/2014/main" id="{78547D6B-CB24-6BC9-DECD-ABA9A2AA2D04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835" r="826"/>
            <a:stretch/>
          </p:blipFill>
          <p:spPr>
            <a:xfrm>
              <a:off x="2665538" y="658837"/>
              <a:ext cx="3812925" cy="38258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" name="Google Shape;313;p32">
            <a:extLst>
              <a:ext uri="{FF2B5EF4-FFF2-40B4-BE49-F238E27FC236}">
                <a16:creationId xmlns:a16="http://schemas.microsoft.com/office/drawing/2014/main" id="{E03770C6-B0F4-31B2-9CB0-95228E3FA57B}"/>
              </a:ext>
            </a:extLst>
          </p:cNvPr>
          <p:cNvSpPr/>
          <p:nvPr/>
        </p:nvSpPr>
        <p:spPr>
          <a:xfrm>
            <a:off x="2296062" y="5524668"/>
            <a:ext cx="7563300" cy="6150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https://linkedin.com/in/mayurmadnani</a:t>
            </a:r>
            <a:endParaRPr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  <p:extLst>
      <p:ext uri="{BB962C8B-B14F-4D97-AF65-F5344CB8AC3E}">
        <p14:creationId xmlns:p14="http://schemas.microsoft.com/office/powerpoint/2010/main" val="26216311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Wood Type">
    <a:dk1>
      <a:sysClr val="windowText" lastClr="000000"/>
    </a:dk1>
    <a:lt1>
      <a:sysClr val="window" lastClr="FFFFFF"/>
    </a:lt1>
    <a:dk2>
      <a:srgbClr val="696464"/>
    </a:dk2>
    <a:lt2>
      <a:srgbClr val="E9E5DC"/>
    </a:lt2>
    <a:accent1>
      <a:srgbClr val="D34817"/>
    </a:accent1>
    <a:accent2>
      <a:srgbClr val="9B2D1F"/>
    </a:accent2>
    <a:accent3>
      <a:srgbClr val="A28E6A"/>
    </a:accent3>
    <a:accent4>
      <a:srgbClr val="956251"/>
    </a:accent4>
    <a:accent5>
      <a:srgbClr val="918485"/>
    </a:accent5>
    <a:accent6>
      <a:srgbClr val="855D5D"/>
    </a:accent6>
    <a:hlink>
      <a:srgbClr val="CC9900"/>
    </a:hlink>
    <a:folHlink>
      <a:srgbClr val="96A9A9"/>
    </a:folHlink>
  </a:clrScheme>
</a:themeOverride>
</file>

<file path=ppt/theme/themeOverride2.xml><?xml version="1.0" encoding="utf-8"?>
<a:themeOverride xmlns:a="http://schemas.openxmlformats.org/drawingml/2006/main">
  <a:clrScheme name="Wood Type">
    <a:dk1>
      <a:sysClr val="windowText" lastClr="000000"/>
    </a:dk1>
    <a:lt1>
      <a:sysClr val="window" lastClr="FFFFFF"/>
    </a:lt1>
    <a:dk2>
      <a:srgbClr val="696464"/>
    </a:dk2>
    <a:lt2>
      <a:srgbClr val="E9E5DC"/>
    </a:lt2>
    <a:accent1>
      <a:srgbClr val="D34817"/>
    </a:accent1>
    <a:accent2>
      <a:srgbClr val="9B2D1F"/>
    </a:accent2>
    <a:accent3>
      <a:srgbClr val="A28E6A"/>
    </a:accent3>
    <a:accent4>
      <a:srgbClr val="956251"/>
    </a:accent4>
    <a:accent5>
      <a:srgbClr val="918485"/>
    </a:accent5>
    <a:accent6>
      <a:srgbClr val="855D5D"/>
    </a:accent6>
    <a:hlink>
      <a:srgbClr val="CC9900"/>
    </a:hlink>
    <a:folHlink>
      <a:srgbClr val="96A9A9"/>
    </a:folHlink>
  </a:clrScheme>
</a:themeOverride>
</file>

<file path=ppt/theme/themeOverride3.xml><?xml version="1.0" encoding="utf-8"?>
<a:themeOverride xmlns:a="http://schemas.openxmlformats.org/drawingml/2006/main">
  <a:clrScheme name="Wood Type">
    <a:dk1>
      <a:sysClr val="windowText" lastClr="000000"/>
    </a:dk1>
    <a:lt1>
      <a:sysClr val="window" lastClr="FFFFFF"/>
    </a:lt1>
    <a:dk2>
      <a:srgbClr val="696464"/>
    </a:dk2>
    <a:lt2>
      <a:srgbClr val="E9E5DC"/>
    </a:lt2>
    <a:accent1>
      <a:srgbClr val="D34817"/>
    </a:accent1>
    <a:accent2>
      <a:srgbClr val="9B2D1F"/>
    </a:accent2>
    <a:accent3>
      <a:srgbClr val="A28E6A"/>
    </a:accent3>
    <a:accent4>
      <a:srgbClr val="956251"/>
    </a:accent4>
    <a:accent5>
      <a:srgbClr val="918485"/>
    </a:accent5>
    <a:accent6>
      <a:srgbClr val="855D5D"/>
    </a:accent6>
    <a:hlink>
      <a:srgbClr val="CC9900"/>
    </a:hlink>
    <a:folHlink>
      <a:srgbClr val="96A9A9"/>
    </a:folHlink>
  </a:clrScheme>
</a:themeOverride>
</file>

<file path=ppt/theme/themeOverride4.xml><?xml version="1.0" encoding="utf-8"?>
<a:themeOverride xmlns:a="http://schemas.openxmlformats.org/drawingml/2006/main">
  <a:clrScheme name="Wood Type">
    <a:dk1>
      <a:sysClr val="windowText" lastClr="000000"/>
    </a:dk1>
    <a:lt1>
      <a:sysClr val="window" lastClr="FFFFFF"/>
    </a:lt1>
    <a:dk2>
      <a:srgbClr val="696464"/>
    </a:dk2>
    <a:lt2>
      <a:srgbClr val="E9E5DC"/>
    </a:lt2>
    <a:accent1>
      <a:srgbClr val="D34817"/>
    </a:accent1>
    <a:accent2>
      <a:srgbClr val="9B2D1F"/>
    </a:accent2>
    <a:accent3>
      <a:srgbClr val="A28E6A"/>
    </a:accent3>
    <a:accent4>
      <a:srgbClr val="956251"/>
    </a:accent4>
    <a:accent5>
      <a:srgbClr val="918485"/>
    </a:accent5>
    <a:accent6>
      <a:srgbClr val="855D5D"/>
    </a:accent6>
    <a:hlink>
      <a:srgbClr val="CC9900"/>
    </a:hlink>
    <a:folHlink>
      <a:srgbClr val="96A9A9"/>
    </a:folHlink>
  </a:clrScheme>
</a:themeOverride>
</file>

<file path=ppt/theme/themeOverride5.xml><?xml version="1.0" encoding="utf-8"?>
<a:themeOverride xmlns:a="http://schemas.openxmlformats.org/drawingml/2006/main">
  <a:clrScheme name="Wood Type">
    <a:dk1>
      <a:sysClr val="windowText" lastClr="000000"/>
    </a:dk1>
    <a:lt1>
      <a:sysClr val="window" lastClr="FFFFFF"/>
    </a:lt1>
    <a:dk2>
      <a:srgbClr val="696464"/>
    </a:dk2>
    <a:lt2>
      <a:srgbClr val="E9E5DC"/>
    </a:lt2>
    <a:accent1>
      <a:srgbClr val="D34817"/>
    </a:accent1>
    <a:accent2>
      <a:srgbClr val="9B2D1F"/>
    </a:accent2>
    <a:accent3>
      <a:srgbClr val="A28E6A"/>
    </a:accent3>
    <a:accent4>
      <a:srgbClr val="956251"/>
    </a:accent4>
    <a:accent5>
      <a:srgbClr val="918485"/>
    </a:accent5>
    <a:accent6>
      <a:srgbClr val="855D5D"/>
    </a:accent6>
    <a:hlink>
      <a:srgbClr val="CC9900"/>
    </a:hlink>
    <a:folHlink>
      <a:srgbClr val="96A9A9"/>
    </a:folHlink>
  </a:clrScheme>
</a:themeOverride>
</file>

<file path=ppt/theme/themeOverride6.xml><?xml version="1.0" encoding="utf-8"?>
<a:themeOverride xmlns:a="http://schemas.openxmlformats.org/drawingml/2006/main">
  <a:clrScheme name="Wood Type">
    <a:dk1>
      <a:sysClr val="windowText" lastClr="000000"/>
    </a:dk1>
    <a:lt1>
      <a:sysClr val="window" lastClr="FFFFFF"/>
    </a:lt1>
    <a:dk2>
      <a:srgbClr val="696464"/>
    </a:dk2>
    <a:lt2>
      <a:srgbClr val="E9E5DC"/>
    </a:lt2>
    <a:accent1>
      <a:srgbClr val="D34817"/>
    </a:accent1>
    <a:accent2>
      <a:srgbClr val="9B2D1F"/>
    </a:accent2>
    <a:accent3>
      <a:srgbClr val="A28E6A"/>
    </a:accent3>
    <a:accent4>
      <a:srgbClr val="956251"/>
    </a:accent4>
    <a:accent5>
      <a:srgbClr val="918485"/>
    </a:accent5>
    <a:accent6>
      <a:srgbClr val="855D5D"/>
    </a:accent6>
    <a:hlink>
      <a:srgbClr val="CC9900"/>
    </a:hlink>
    <a:folHlink>
      <a:srgbClr val="96A9A9"/>
    </a:folHlink>
  </a:clrScheme>
</a:themeOverride>
</file>

<file path=ppt/theme/themeOverride7.xml><?xml version="1.0" encoding="utf-8"?>
<a:themeOverride xmlns:a="http://schemas.openxmlformats.org/drawingml/2006/main">
  <a:clrScheme name="Wood Type">
    <a:dk1>
      <a:sysClr val="windowText" lastClr="000000"/>
    </a:dk1>
    <a:lt1>
      <a:sysClr val="window" lastClr="FFFFFF"/>
    </a:lt1>
    <a:dk2>
      <a:srgbClr val="696464"/>
    </a:dk2>
    <a:lt2>
      <a:srgbClr val="E9E5DC"/>
    </a:lt2>
    <a:accent1>
      <a:srgbClr val="D34817"/>
    </a:accent1>
    <a:accent2>
      <a:srgbClr val="9B2D1F"/>
    </a:accent2>
    <a:accent3>
      <a:srgbClr val="A28E6A"/>
    </a:accent3>
    <a:accent4>
      <a:srgbClr val="956251"/>
    </a:accent4>
    <a:accent5>
      <a:srgbClr val="918485"/>
    </a:accent5>
    <a:accent6>
      <a:srgbClr val="855D5D"/>
    </a:accent6>
    <a:hlink>
      <a:srgbClr val="CC9900"/>
    </a:hlink>
    <a:folHlink>
      <a:srgbClr val="96A9A9"/>
    </a:folHlink>
  </a:clrScheme>
</a:themeOverride>
</file>

<file path=ppt/theme/themeOverride8.xml><?xml version="1.0" encoding="utf-8"?>
<a:themeOverride xmlns:a="http://schemas.openxmlformats.org/drawingml/2006/main">
  <a:clrScheme name="Wood Type">
    <a:dk1>
      <a:sysClr val="windowText" lastClr="000000"/>
    </a:dk1>
    <a:lt1>
      <a:sysClr val="window" lastClr="FFFFFF"/>
    </a:lt1>
    <a:dk2>
      <a:srgbClr val="696464"/>
    </a:dk2>
    <a:lt2>
      <a:srgbClr val="E9E5DC"/>
    </a:lt2>
    <a:accent1>
      <a:srgbClr val="D34817"/>
    </a:accent1>
    <a:accent2>
      <a:srgbClr val="9B2D1F"/>
    </a:accent2>
    <a:accent3>
      <a:srgbClr val="A28E6A"/>
    </a:accent3>
    <a:accent4>
      <a:srgbClr val="956251"/>
    </a:accent4>
    <a:accent5>
      <a:srgbClr val="918485"/>
    </a:accent5>
    <a:accent6>
      <a:srgbClr val="855D5D"/>
    </a:accent6>
    <a:hlink>
      <a:srgbClr val="CC9900"/>
    </a:hlink>
    <a:folHlink>
      <a:srgbClr val="96A9A9"/>
    </a:folHlink>
  </a:clrScheme>
</a:themeOverride>
</file>

<file path=ppt/theme/themeOverride9.xml><?xml version="1.0" encoding="utf-8"?>
<a:themeOverride xmlns:a="http://schemas.openxmlformats.org/drawingml/2006/main">
  <a:clrScheme name="Wood Type">
    <a:dk1>
      <a:sysClr val="windowText" lastClr="000000"/>
    </a:dk1>
    <a:lt1>
      <a:sysClr val="window" lastClr="FFFFFF"/>
    </a:lt1>
    <a:dk2>
      <a:srgbClr val="696464"/>
    </a:dk2>
    <a:lt2>
      <a:srgbClr val="E9E5DC"/>
    </a:lt2>
    <a:accent1>
      <a:srgbClr val="D34817"/>
    </a:accent1>
    <a:accent2>
      <a:srgbClr val="9B2D1F"/>
    </a:accent2>
    <a:accent3>
      <a:srgbClr val="A28E6A"/>
    </a:accent3>
    <a:accent4>
      <a:srgbClr val="956251"/>
    </a:accent4>
    <a:accent5>
      <a:srgbClr val="918485"/>
    </a:accent5>
    <a:accent6>
      <a:srgbClr val="855D5D"/>
    </a:accent6>
    <a:hlink>
      <a:srgbClr val="CC9900"/>
    </a:hlink>
    <a:folHlink>
      <a:srgbClr val="96A9A9"/>
    </a:folHlink>
  </a:clrScheme>
</a:themeOverride>
</file>

<file path=ppt/theme/themeOverride10.xml><?xml version="1.0" encoding="utf-8"?>
<a:themeOverride xmlns:a="http://schemas.openxmlformats.org/drawingml/2006/main">
  <a:clrScheme name="Wood Type">
    <a:dk1>
      <a:sysClr val="windowText" lastClr="000000"/>
    </a:dk1>
    <a:lt1>
      <a:sysClr val="window" lastClr="FFFFFF"/>
    </a:lt1>
    <a:dk2>
      <a:srgbClr val="696464"/>
    </a:dk2>
    <a:lt2>
      <a:srgbClr val="E9E5DC"/>
    </a:lt2>
    <a:accent1>
      <a:srgbClr val="D34817"/>
    </a:accent1>
    <a:accent2>
      <a:srgbClr val="9B2D1F"/>
    </a:accent2>
    <a:accent3>
      <a:srgbClr val="A28E6A"/>
    </a:accent3>
    <a:accent4>
      <a:srgbClr val="956251"/>
    </a:accent4>
    <a:accent5>
      <a:srgbClr val="918485"/>
    </a:accent5>
    <a:accent6>
      <a:srgbClr val="855D5D"/>
    </a:accent6>
    <a:hlink>
      <a:srgbClr val="CC9900"/>
    </a:hlink>
    <a:folHlink>
      <a:srgbClr val="96A9A9"/>
    </a:folHlink>
  </a:clrScheme>
</a:themeOverride>
</file>

<file path=ppt/theme/themeOverride11.xml><?xml version="1.0" encoding="utf-8"?>
<a:themeOverride xmlns:a="http://schemas.openxmlformats.org/drawingml/2006/main">
  <a:clrScheme name="Wood Type">
    <a:dk1>
      <a:sysClr val="windowText" lastClr="000000"/>
    </a:dk1>
    <a:lt1>
      <a:sysClr val="window" lastClr="FFFFFF"/>
    </a:lt1>
    <a:dk2>
      <a:srgbClr val="696464"/>
    </a:dk2>
    <a:lt2>
      <a:srgbClr val="E9E5DC"/>
    </a:lt2>
    <a:accent1>
      <a:srgbClr val="D34817"/>
    </a:accent1>
    <a:accent2>
      <a:srgbClr val="9B2D1F"/>
    </a:accent2>
    <a:accent3>
      <a:srgbClr val="A28E6A"/>
    </a:accent3>
    <a:accent4>
      <a:srgbClr val="956251"/>
    </a:accent4>
    <a:accent5>
      <a:srgbClr val="918485"/>
    </a:accent5>
    <a:accent6>
      <a:srgbClr val="855D5D"/>
    </a:accent6>
    <a:hlink>
      <a:srgbClr val="CC9900"/>
    </a:hlink>
    <a:folHlink>
      <a:srgbClr val="96A9A9"/>
    </a:folHlink>
  </a:clrScheme>
</a:themeOverride>
</file>

<file path=ppt/theme/themeOverride12.xml><?xml version="1.0" encoding="utf-8"?>
<a:themeOverride xmlns:a="http://schemas.openxmlformats.org/drawingml/2006/main">
  <a:clrScheme name="Wood Type">
    <a:dk1>
      <a:sysClr val="windowText" lastClr="000000"/>
    </a:dk1>
    <a:lt1>
      <a:sysClr val="window" lastClr="FFFFFF"/>
    </a:lt1>
    <a:dk2>
      <a:srgbClr val="696464"/>
    </a:dk2>
    <a:lt2>
      <a:srgbClr val="E9E5DC"/>
    </a:lt2>
    <a:accent1>
      <a:srgbClr val="D34817"/>
    </a:accent1>
    <a:accent2>
      <a:srgbClr val="9B2D1F"/>
    </a:accent2>
    <a:accent3>
      <a:srgbClr val="A28E6A"/>
    </a:accent3>
    <a:accent4>
      <a:srgbClr val="956251"/>
    </a:accent4>
    <a:accent5>
      <a:srgbClr val="918485"/>
    </a:accent5>
    <a:accent6>
      <a:srgbClr val="855D5D"/>
    </a:accent6>
    <a:hlink>
      <a:srgbClr val="CC9900"/>
    </a:hlink>
    <a:folHlink>
      <a:srgbClr val="96A9A9"/>
    </a:folHlink>
  </a:clrScheme>
</a:themeOverride>
</file>

<file path=ppt/theme/themeOverride13.xml><?xml version="1.0" encoding="utf-8"?>
<a:themeOverride xmlns:a="http://schemas.openxmlformats.org/drawingml/2006/main">
  <a:clrScheme name="Wood Type">
    <a:dk1>
      <a:sysClr val="windowText" lastClr="000000"/>
    </a:dk1>
    <a:lt1>
      <a:sysClr val="window" lastClr="FFFFFF"/>
    </a:lt1>
    <a:dk2>
      <a:srgbClr val="696464"/>
    </a:dk2>
    <a:lt2>
      <a:srgbClr val="E9E5DC"/>
    </a:lt2>
    <a:accent1>
      <a:srgbClr val="D34817"/>
    </a:accent1>
    <a:accent2>
      <a:srgbClr val="9B2D1F"/>
    </a:accent2>
    <a:accent3>
      <a:srgbClr val="A28E6A"/>
    </a:accent3>
    <a:accent4>
      <a:srgbClr val="956251"/>
    </a:accent4>
    <a:accent5>
      <a:srgbClr val="918485"/>
    </a:accent5>
    <a:accent6>
      <a:srgbClr val="855D5D"/>
    </a:accent6>
    <a:hlink>
      <a:srgbClr val="CC9900"/>
    </a:hlink>
    <a:folHlink>
      <a:srgbClr val="96A9A9"/>
    </a:folHlink>
  </a:clrScheme>
</a:themeOverride>
</file>

<file path=ppt/theme/themeOverride14.xml><?xml version="1.0" encoding="utf-8"?>
<a:themeOverride xmlns:a="http://schemas.openxmlformats.org/drawingml/2006/main">
  <a:clrScheme name="Wood Type">
    <a:dk1>
      <a:sysClr val="windowText" lastClr="000000"/>
    </a:dk1>
    <a:lt1>
      <a:sysClr val="window" lastClr="FFFFFF"/>
    </a:lt1>
    <a:dk2>
      <a:srgbClr val="696464"/>
    </a:dk2>
    <a:lt2>
      <a:srgbClr val="E9E5DC"/>
    </a:lt2>
    <a:accent1>
      <a:srgbClr val="D34817"/>
    </a:accent1>
    <a:accent2>
      <a:srgbClr val="9B2D1F"/>
    </a:accent2>
    <a:accent3>
      <a:srgbClr val="A28E6A"/>
    </a:accent3>
    <a:accent4>
      <a:srgbClr val="956251"/>
    </a:accent4>
    <a:accent5>
      <a:srgbClr val="918485"/>
    </a:accent5>
    <a:accent6>
      <a:srgbClr val="855D5D"/>
    </a:accent6>
    <a:hlink>
      <a:srgbClr val="CC9900"/>
    </a:hlink>
    <a:folHlink>
      <a:srgbClr val="96A9A9"/>
    </a:folHlink>
  </a:clrScheme>
</a:themeOverride>
</file>

<file path=ppt/theme/themeOverride15.xml><?xml version="1.0" encoding="utf-8"?>
<a:themeOverride xmlns:a="http://schemas.openxmlformats.org/drawingml/2006/main">
  <a:clrScheme name="Wood Type">
    <a:dk1>
      <a:sysClr val="windowText" lastClr="000000"/>
    </a:dk1>
    <a:lt1>
      <a:sysClr val="window" lastClr="FFFFFF"/>
    </a:lt1>
    <a:dk2>
      <a:srgbClr val="696464"/>
    </a:dk2>
    <a:lt2>
      <a:srgbClr val="E9E5DC"/>
    </a:lt2>
    <a:accent1>
      <a:srgbClr val="D34817"/>
    </a:accent1>
    <a:accent2>
      <a:srgbClr val="9B2D1F"/>
    </a:accent2>
    <a:accent3>
      <a:srgbClr val="A28E6A"/>
    </a:accent3>
    <a:accent4>
      <a:srgbClr val="956251"/>
    </a:accent4>
    <a:accent5>
      <a:srgbClr val="918485"/>
    </a:accent5>
    <a:accent6>
      <a:srgbClr val="855D5D"/>
    </a:accent6>
    <a:hlink>
      <a:srgbClr val="CC9900"/>
    </a:hlink>
    <a:folHlink>
      <a:srgbClr val="96A9A9"/>
    </a:folHlink>
  </a:clrScheme>
</a:themeOverride>
</file>

<file path=ppt/theme/themeOverride16.xml><?xml version="1.0" encoding="utf-8"?>
<a:themeOverride xmlns:a="http://schemas.openxmlformats.org/drawingml/2006/main">
  <a:clrScheme name="Wood Type">
    <a:dk1>
      <a:sysClr val="windowText" lastClr="000000"/>
    </a:dk1>
    <a:lt1>
      <a:sysClr val="window" lastClr="FFFFFF"/>
    </a:lt1>
    <a:dk2>
      <a:srgbClr val="696464"/>
    </a:dk2>
    <a:lt2>
      <a:srgbClr val="E9E5DC"/>
    </a:lt2>
    <a:accent1>
      <a:srgbClr val="D34817"/>
    </a:accent1>
    <a:accent2>
      <a:srgbClr val="9B2D1F"/>
    </a:accent2>
    <a:accent3>
      <a:srgbClr val="A28E6A"/>
    </a:accent3>
    <a:accent4>
      <a:srgbClr val="956251"/>
    </a:accent4>
    <a:accent5>
      <a:srgbClr val="918485"/>
    </a:accent5>
    <a:accent6>
      <a:srgbClr val="855D5D"/>
    </a:accent6>
    <a:hlink>
      <a:srgbClr val="CC9900"/>
    </a:hlink>
    <a:folHlink>
      <a:srgbClr val="96A9A9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Words>279</Words>
  <Application>Microsoft Office PowerPoint</Application>
  <PresentationFormat>Widescreen</PresentationFormat>
  <Paragraphs>85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Calibri</vt:lpstr>
      <vt:lpstr>Google Sans</vt:lpstr>
      <vt:lpstr>Google Sans Medium</vt:lpstr>
      <vt:lpstr>IBM Plex Sans</vt:lpstr>
      <vt:lpstr>Roboto Mono Light</vt:lpstr>
      <vt:lpstr>Rockwell</vt:lpstr>
      <vt:lpstr>Rockwell Condensed</vt:lpstr>
      <vt:lpstr>Wingdings</vt:lpstr>
      <vt:lpstr>Wood Type</vt:lpstr>
      <vt:lpstr>Fine-tune SLM w/ LORA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Mayur Madnani</dc:creator>
  <cp:lastModifiedBy>Mayur Madnani</cp:lastModifiedBy>
  <cp:revision>3</cp:revision>
  <dcterms:created xsi:type="dcterms:W3CDTF">2026-02-11T03:38:32Z</dcterms:created>
  <dcterms:modified xsi:type="dcterms:W3CDTF">2026-02-16T03:30:40Z</dcterms:modified>
</cp:coreProperties>
</file>